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147473573" r:id="rId5"/>
    <p:sldId id="2147473569" r:id="rId6"/>
    <p:sldId id="2147473572" r:id="rId7"/>
  </p:sldIdLst>
  <p:sldSz cx="9144000" cy="5143500" type="screen16x9"/>
  <p:notesSz cx="6858000" cy="914400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A4A3A4"/>
          </p15:clr>
        </p15:guide>
        <p15:guide id="2" pos="5556" userDrawn="1">
          <p15:clr>
            <a:srgbClr val="A4A3A4"/>
          </p15:clr>
        </p15:guide>
        <p15:guide id="3" orient="horz" pos="732" userDrawn="1">
          <p15:clr>
            <a:srgbClr val="A4A3A4"/>
          </p15:clr>
        </p15:guide>
        <p15:guide id="4" orient="horz" pos="2950" userDrawn="1">
          <p15:clr>
            <a:srgbClr val="A4A3A4"/>
          </p15:clr>
        </p15:guide>
        <p15:guide id="5" orient="horz" pos="238" userDrawn="1">
          <p15:clr>
            <a:srgbClr val="A4A3A4"/>
          </p15:clr>
        </p15:guide>
        <p15:guide id="6" pos="2832" userDrawn="1">
          <p15:clr>
            <a:srgbClr val="A4A3A4"/>
          </p15:clr>
        </p15:guide>
        <p15:guide id="7" pos="2933" userDrawn="1">
          <p15:clr>
            <a:srgbClr val="A4A3A4"/>
          </p15:clr>
        </p15:guide>
        <p15:guide id="8" pos="2023" userDrawn="1">
          <p15:clr>
            <a:srgbClr val="A4A3A4"/>
          </p15:clr>
        </p15:guide>
        <p15:guide id="9" pos="1917" userDrawn="1">
          <p15:clr>
            <a:srgbClr val="A4A3A4"/>
          </p15:clr>
        </p15:guide>
        <p15:guide id="10" pos="3737" userDrawn="1">
          <p15:clr>
            <a:srgbClr val="A4A3A4"/>
          </p15:clr>
        </p15:guide>
        <p15:guide id="11" pos="384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ike Schmidt" initials="MS" lastIdx="3" clrIdx="0">
    <p:extLst>
      <p:ext uri="{19B8F6BF-5375-455C-9EA6-DF929625EA0E}">
        <p15:presenceInfo xmlns:p15="http://schemas.microsoft.com/office/powerpoint/2012/main" userId="S::maike.schmidt@strategy-compass.com::b4eb969c-01b2-4915-aef7-794a5e1eccd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9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9810C2D-2C2F-4581-8AFF-CD78C2D722A2}">
  <a:tblStyle styleId="{09810C2D-2C2F-4581-8AFF-CD78C2D722A2}" styleName="DHL Table No BG">
    <a:tblBg>
      <a:fill>
        <a:noFill/>
      </a:fill>
    </a:tblBg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8575" cmpd="sng">
              <a:solidFill>
                <a:schemeClr val="accent4"/>
              </a:solidFill>
            </a:ln>
          </a:top>
          <a:bottom>
            <a:ln w="28575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solidFill>
            <a:schemeClr val="bg1"/>
          </a:solidFill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noFill/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/>
      <a:tcStyle>
        <a:tcBdr/>
      </a:tcStyle>
    </a:lastCol>
    <a:firstCol>
      <a:tcStyle>
        <a:tcBdr/>
        <a:fill>
          <a:noFill/>
        </a:fill>
      </a:tcStyle>
    </a:firstCol>
    <a:lastRow>
      <a:tcStyle>
        <a:tcBdr/>
        <a:fill>
          <a:noFill/>
        </a:fill>
      </a:tcStyle>
    </a:lastRow>
    <a:firstRow>
      <a:tcTxStyle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6C8A55F-5544-428C-9B86-97CFDF07063B}" styleName="DHL Table White BG">
    <a:tblBg>
      <a:fill>
        <a:noFill/>
      </a:fill>
    </a:tblBg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8575" cmpd="sng">
              <a:solidFill>
                <a:schemeClr val="accent4"/>
              </a:solidFill>
            </a:ln>
          </a:top>
          <a:bottom>
            <a:ln w="28575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bg1">
              <a:tint val="100000"/>
            </a:schemeClr>
          </a:solidFill>
        </a:fill>
      </a:tcStyle>
    </a:band1H>
    <a:band2H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band2H>
    <a:band1V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band1V>
    <a:band2V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band2V>
    <a:lastCol>
      <a:tcTxStyle/>
      <a:tcStyle>
        <a:tcBdr/>
      </a:tcStyle>
    </a:lastCol>
    <a:firstCol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firstCol>
    <a:lastRow>
      <a:tcStyle>
        <a:tcBdr/>
        <a:fill>
          <a:solidFill>
            <a:schemeClr val="bg1">
              <a:lumMod val="20000"/>
              <a:lumOff val="80000"/>
            </a:schemeClr>
          </a:solidFill>
        </a:fill>
      </a:tcStyle>
    </a:lastRow>
    <a:firstRow>
      <a:tcTxStyle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solidFill>
            <a:schemeClr val="bg1">
              <a:lumMod val="20000"/>
              <a:lumOff val="8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58" d="100"/>
          <a:sy n="158" d="100"/>
        </p:scale>
        <p:origin x="162" y="150"/>
      </p:cViewPr>
      <p:guideLst>
        <p:guide pos="204"/>
        <p:guide pos="5556"/>
        <p:guide orient="horz" pos="732"/>
        <p:guide orient="horz" pos="2950"/>
        <p:guide orient="horz" pos="238"/>
        <p:guide pos="2832"/>
        <p:guide pos="2933"/>
        <p:guide pos="2023"/>
        <p:guide pos="1917"/>
        <p:guide pos="3737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CAE4-CBB0-454E-B6B8-0B6620C2B409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53AD6-CEF2-4FD5-AABC-FCC5FC528AD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921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: full page gradient">
    <p:bg>
      <p:bgPr>
        <a:gradFill flip="none" rotWithShape="1"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017985"/>
            <a:ext cx="8495999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subline in one OR TWO </a:t>
            </a:r>
            <a:r>
              <a:rPr lang="en-US" dirty="0" err="1"/>
              <a:t>lineS</a:t>
            </a:r>
            <a:r>
              <a:rPr lang="en-US" dirty="0"/>
              <a:t>, 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519112"/>
            <a:ext cx="8495999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ONE OR TWO LINES,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077289"/>
            <a:ext cx="4644724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4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7" name="meta-project">
            <a:extLst>
              <a:ext uri="{FF2B5EF4-FFF2-40B4-BE49-F238E27FC236}">
                <a16:creationId xmlns:a16="http://schemas.microsoft.com/office/drawing/2014/main" id="{8F28B7B0-34F9-4874-994D-5A49D798B3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999" y="2614115"/>
            <a:ext cx="4644724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Location, ## Month ####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8120FB3-2F20-4BA7-8E65-B72714AE1C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7436" y="4476061"/>
            <a:ext cx="1475999" cy="35142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3564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: half page gradient">
    <p:bg>
      <p:bgPr>
        <a:gradFill flip="none" rotWithShape="1"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A5375F-57B6-4F34-B285-0212289DE52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92724" y="0"/>
            <a:ext cx="3851274" cy="51480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1" y="2758969"/>
            <a:ext cx="4644723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</a:t>
            </a:r>
          </a:p>
          <a:p>
            <a:r>
              <a:rPr lang="en-US" dirty="0"/>
              <a:t>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1" y="1260096"/>
            <a:ext cx="4644723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meta-project">
            <a:extLst>
              <a:ext uri="{FF2B5EF4-FFF2-40B4-BE49-F238E27FC236}">
                <a16:creationId xmlns:a16="http://schemas.microsoft.com/office/drawing/2014/main" id="{6EBD2539-ABD1-40DD-8933-464D93B77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999" y="3339331"/>
            <a:ext cx="4644724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</a:t>
            </a:r>
            <a:br>
              <a:rPr lang="en-US" dirty="0"/>
            </a:br>
            <a:r>
              <a:rPr lang="en-US" dirty="0"/>
              <a:t>Location, ##Month##</a:t>
            </a:r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802505"/>
            <a:ext cx="4644724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4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75CD22A-BD9A-416E-9FC5-E1EA62C354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7436" y="4476061"/>
            <a:ext cx="1475999" cy="35142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119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half page gradient, full page picture">
    <p:bg>
      <p:bgPr>
        <a:gradFill flip="none" rotWithShape="1">
          <a:gsLst>
            <a:gs pos="40000">
              <a:schemeClr val="accent3"/>
            </a:gs>
            <a:gs pos="80000">
              <a:srgbClr val="FFEFB5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A5375F-57B6-4F34-B285-0212289DE52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 algn="r"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9B50F6-B70A-4FAE-B403-A7AA478559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0019" y="519114"/>
            <a:ext cx="4802400" cy="4467600"/>
          </a:xfrm>
          <a:prstGeom prst="rect">
            <a:avLst/>
          </a:prstGeom>
          <a:gradFill>
            <a:gsLst>
              <a:gs pos="5000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algn="l">
              <a:defRPr lang="en-US" sz="100" smtClean="0">
                <a:solidFill>
                  <a:schemeClr val="accent3"/>
                </a:solidFill>
              </a:defRPr>
            </a:lvl1pPr>
            <a:lvl2pPr>
              <a:defRPr lang="en-US" sz="1350" smtClean="0">
                <a:solidFill>
                  <a:schemeClr val="lt1"/>
                </a:solidFill>
              </a:defRPr>
            </a:lvl2pPr>
            <a:lvl3pPr>
              <a:defRPr lang="en-US" sz="1350" smtClean="0">
                <a:solidFill>
                  <a:schemeClr val="lt1"/>
                </a:solidFill>
              </a:defRPr>
            </a:lvl3pPr>
            <a:lvl4pPr>
              <a:defRPr lang="en-US" sz="1350" smtClean="0">
                <a:solidFill>
                  <a:schemeClr val="lt1"/>
                </a:solidFill>
              </a:defRPr>
            </a:lvl4pPr>
            <a:lvl5pPr>
              <a:defRPr lang="en-US" sz="135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1</a:t>
            </a:r>
          </a:p>
        </p:txBody>
      </p:sp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758969"/>
            <a:ext cx="4657246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</a:t>
            </a:r>
          </a:p>
          <a:p>
            <a:r>
              <a:rPr lang="en-US" dirty="0"/>
              <a:t>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1" y="1144018"/>
            <a:ext cx="4657245" cy="1614951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meta-project">
            <a:extLst>
              <a:ext uri="{FF2B5EF4-FFF2-40B4-BE49-F238E27FC236}">
                <a16:creationId xmlns:a16="http://schemas.microsoft.com/office/drawing/2014/main" id="{6EBD2539-ABD1-40DD-8933-464D93B77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999" y="3339331"/>
            <a:ext cx="4657246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</a:t>
            </a:r>
            <a:br>
              <a:rPr lang="en-US" dirty="0"/>
            </a:br>
            <a:r>
              <a:rPr lang="en-US" dirty="0"/>
              <a:t>Location, ##Month##</a:t>
            </a:r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802505"/>
            <a:ext cx="4657246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4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57C6BB5-4D29-40EC-8FE5-EA06CCEE78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7436" y="4476061"/>
            <a:ext cx="1475999" cy="35142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0683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light picture, gradien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98196275-11AD-46AC-8347-3CB841C40A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0BED4DE-662F-4302-A9D9-121F49D0DB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0020" y="4314061"/>
            <a:ext cx="8658000" cy="670842"/>
          </a:xfrm>
          <a:prstGeom prst="rect">
            <a:avLst/>
          </a:prstGeom>
          <a:gradFill flip="none" rotWithShape="1">
            <a:gsLst>
              <a:gs pos="5000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algn="l">
              <a:defRPr lang="en-US" sz="100" smtClean="0">
                <a:solidFill>
                  <a:schemeClr val="accent3"/>
                </a:solidFill>
              </a:defRPr>
            </a:lvl1pPr>
            <a:lvl2pPr>
              <a:defRPr lang="en-US" sz="1350" smtClean="0">
                <a:solidFill>
                  <a:schemeClr val="lt1"/>
                </a:solidFill>
              </a:defRPr>
            </a:lvl2pPr>
            <a:lvl3pPr>
              <a:defRPr lang="en-US" sz="1350" smtClean="0">
                <a:solidFill>
                  <a:schemeClr val="lt1"/>
                </a:solidFill>
              </a:defRPr>
            </a:lvl3pPr>
            <a:lvl4pPr>
              <a:defRPr lang="en-US" sz="1350" smtClean="0">
                <a:solidFill>
                  <a:schemeClr val="lt1"/>
                </a:solidFill>
              </a:defRPr>
            </a:lvl4pPr>
            <a:lvl5pPr>
              <a:defRPr lang="en-US" sz="135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1</a:t>
            </a:r>
          </a:p>
        </p:txBody>
      </p:sp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740802"/>
            <a:ext cx="8495999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1241929"/>
            <a:ext cx="8495999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meta-project">
            <a:extLst>
              <a:ext uri="{FF2B5EF4-FFF2-40B4-BE49-F238E27FC236}">
                <a16:creationId xmlns:a16="http://schemas.microsoft.com/office/drawing/2014/main" id="{6EBD2539-ABD1-40DD-8933-464D93B77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999" y="3345642"/>
            <a:ext cx="4644724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</a:t>
            </a:r>
          </a:p>
          <a:p>
            <a:pPr lvl="0"/>
            <a:r>
              <a:rPr lang="en-US" dirty="0"/>
              <a:t>Location, ##Month##</a:t>
            </a:r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808816"/>
            <a:ext cx="4644724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4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B0F513B-4E07-4812-ADA8-811D6592E5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7436" y="4476061"/>
            <a:ext cx="1475999" cy="35142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625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dark picture, gradien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B4A82-6837-42CB-8B67-FDC5119BE9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0"/>
            <a:ext cx="9144000" cy="5148000"/>
          </a:xfrm>
          <a:prstGeom prst="rect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40000">
                <a:schemeClr val="tx1">
                  <a:alpha val="30000"/>
                </a:schemeClr>
              </a:gs>
            </a:gsLst>
            <a:lin ang="0" scaled="1"/>
            <a:tileRect/>
          </a:grad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8EBE0D14-C041-444F-B729-07322619058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333333"/>
          </a:solidFill>
        </p:spPr>
        <p:txBody>
          <a:bodyPr lIns="324000" tIns="576000"/>
          <a:lstStyle>
            <a:lvl1pPr>
              <a:defRPr sz="1000" b="0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use and adjust this transparent box to darken the background image for good readability. Please insert an image and send it to the background.</a:t>
            </a:r>
          </a:p>
        </p:txBody>
      </p:sp>
      <p:sp>
        <p:nvSpPr>
          <p:cNvPr id="3" name="meta-subline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740802"/>
            <a:ext cx="8495999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bg1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1241929"/>
            <a:ext cx="8495999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bg1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SAMPLE TITLE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meta-project">
            <a:extLst>
              <a:ext uri="{FF2B5EF4-FFF2-40B4-BE49-F238E27FC236}">
                <a16:creationId xmlns:a16="http://schemas.microsoft.com/office/drawing/2014/main" id="{6EBD2539-ABD1-40DD-8933-464D93B77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999" y="3345642"/>
            <a:ext cx="4644724" cy="400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Name of the event or project or presenter</a:t>
            </a:r>
          </a:p>
          <a:p>
            <a:pPr lvl="0"/>
            <a:r>
              <a:rPr lang="en-US" dirty="0"/>
              <a:t>Location, ##Month##</a:t>
            </a:r>
          </a:p>
        </p:txBody>
      </p:sp>
      <p:sp>
        <p:nvSpPr>
          <p:cNvPr id="18" name="meta-identifier">
            <a:extLst>
              <a:ext uri="{FF2B5EF4-FFF2-40B4-BE49-F238E27FC236}">
                <a16:creationId xmlns:a16="http://schemas.microsoft.com/office/drawing/2014/main" id="{54E64FCC-3FE9-443B-AD0F-06908B8BA7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999" y="3808816"/>
            <a:ext cx="4644724" cy="1969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DHL Business Unit – Claim, Delivery (bold), 12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2E2F260-C471-49DE-81D6-239F208F04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0020" y="4314061"/>
            <a:ext cx="8658000" cy="670842"/>
          </a:xfrm>
          <a:prstGeom prst="rect">
            <a:avLst/>
          </a:prstGeom>
          <a:gradFill flip="none" rotWithShape="1">
            <a:gsLst>
              <a:gs pos="5000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>
            <a:lvl1pPr algn="l">
              <a:defRPr lang="en-US" sz="100" smtClean="0">
                <a:solidFill>
                  <a:schemeClr val="accent3"/>
                </a:solidFill>
              </a:defRPr>
            </a:lvl1pPr>
            <a:lvl2pPr>
              <a:defRPr lang="en-US" sz="1350" smtClean="0">
                <a:solidFill>
                  <a:schemeClr val="lt1"/>
                </a:solidFill>
              </a:defRPr>
            </a:lvl2pPr>
            <a:lvl3pPr>
              <a:defRPr lang="en-US" sz="1350" smtClean="0">
                <a:solidFill>
                  <a:schemeClr val="lt1"/>
                </a:solidFill>
              </a:defRPr>
            </a:lvl3pPr>
            <a:lvl4pPr>
              <a:defRPr lang="en-US" sz="1350" smtClean="0">
                <a:solidFill>
                  <a:schemeClr val="lt1"/>
                </a:solidFill>
              </a:defRPr>
            </a:lvl4pPr>
            <a:lvl5pPr>
              <a:defRPr lang="en-US" sz="135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1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DB0E010-C9CE-4D82-B3EE-AA6AD62929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7436" y="4476061"/>
            <a:ext cx="1475999" cy="35142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687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: full page gradient">
    <p:bg>
      <p:bgPr>
        <a:gradFill flip="none" rotWithShape="1"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0" y="2017985"/>
            <a:ext cx="8495999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519112"/>
            <a:ext cx="8495999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section divider with Gradient, Delivery CONDENSED BLACK,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34C61-AE90-4876-9405-4282167F38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195B8-0DD2-4278-B191-4D18AA251F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9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: half page gradient">
    <p:bg>
      <p:bgPr>
        <a:gradFill flip="none" rotWithShape="1">
          <a:gsLst>
            <a:gs pos="79000">
              <a:srgbClr val="FFDE59"/>
            </a:gs>
            <a:gs pos="30000">
              <a:schemeClr val="accent3"/>
            </a:gs>
            <a:gs pos="100000">
              <a:srgbClr val="FFF0B2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34533E2D-E3E8-4028-915B-4B522D960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4001" y="2758969"/>
            <a:ext cx="4644723" cy="5032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cap="all" baseline="0">
                <a:solidFill>
                  <a:schemeClr val="accent4"/>
                </a:solidFill>
                <a:latin typeface="Delivery Cd Light" panose="020F0406020204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subline in one OR TWO </a:t>
            </a:r>
            <a:r>
              <a:rPr lang="en-US" dirty="0" err="1"/>
              <a:t>lineS</a:t>
            </a:r>
            <a:r>
              <a:rPr lang="en-US" dirty="0"/>
              <a:t>, </a:t>
            </a:r>
          </a:p>
          <a:p>
            <a:r>
              <a:rPr lang="en-US" dirty="0"/>
              <a:t>Delivery CONDENSED LIGHT,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43A0BD6-FFA5-412C-95AF-EC90EFB11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1" y="1260096"/>
            <a:ext cx="4644723" cy="1498873"/>
          </a:xfrm>
        </p:spPr>
        <p:txBody>
          <a:bodyPr/>
          <a:lstStyle>
            <a:lvl1pPr>
              <a:lnSpc>
                <a:spcPct val="90000"/>
              </a:lnSpc>
              <a:defRPr sz="3600" b="0" i="0" cap="all" baseline="0">
                <a:solidFill>
                  <a:schemeClr val="accent4"/>
                </a:solidFill>
                <a:latin typeface="Delivery Cd Black" panose="020F0906020204020204" pitchFamily="34" charset="0"/>
              </a:defRPr>
            </a:lvl1pPr>
          </a:lstStyle>
          <a:p>
            <a:r>
              <a:rPr lang="en-US" dirty="0"/>
              <a:t>section divider </a:t>
            </a:r>
            <a:br>
              <a:rPr lang="en-US" dirty="0"/>
            </a:br>
            <a:r>
              <a:rPr lang="en-US" dirty="0"/>
              <a:t>with image, 36 PT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A5375F-57B6-4F34-B285-0212289DE52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92726" y="0"/>
            <a:ext cx="3851275" cy="51480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55C8B4-1569-420F-94F8-0A45D58CC3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E2F84-6B48-4F57-8783-342F789CB3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55AA5-C875-4E2C-962B-7BF752DF5F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ED683-F9E2-432B-9EE5-F787159B7C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0C2FE-3516-4404-9D7F-3E6C342436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3BBD46-F6A3-49DC-8F32-053AD1A886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1150938"/>
            <a:ext cx="2722563" cy="3530600"/>
          </a:xfrm>
          <a:prstGeom prst="rect">
            <a:avLst/>
          </a:prstGeom>
        </p:spPr>
        <p:txBody>
          <a:bodyPr/>
          <a:lstStyle>
            <a:lvl1pPr marL="252000" indent="-252000">
              <a:spcBef>
                <a:spcPts val="1400"/>
              </a:spcBef>
              <a:spcAft>
                <a:spcPts val="0"/>
              </a:spcAft>
              <a:buAutoNum type="arabicPlain"/>
              <a:defRPr b="1"/>
            </a:lvl1pPr>
            <a:lvl2pPr marL="252000" indent="0">
              <a:lnSpc>
                <a:spcPct val="100000"/>
              </a:lnSpc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 dirty="0"/>
              <a:t>Sample section, Delivery Bold, </a:t>
            </a:r>
            <a:br>
              <a:rPr lang="en-US" dirty="0"/>
            </a:br>
            <a:r>
              <a:rPr lang="en-US" dirty="0"/>
              <a:t>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Sample text, Delivery, 12 </a:t>
            </a:r>
            <a:r>
              <a:rPr lang="en-US" dirty="0" err="1"/>
              <a:t>pt</a:t>
            </a:r>
            <a:endParaRPr lang="en-US" dirty="0"/>
          </a:p>
          <a:p>
            <a:pPr lvl="0"/>
            <a:endParaRPr lang="en-GB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F39E3AB-4E3D-4482-A3E6-FBBC80DEA3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08339" y="1150938"/>
            <a:ext cx="2722564" cy="3530600"/>
          </a:xfrm>
          <a:prstGeom prst="rect">
            <a:avLst/>
          </a:prstGeom>
        </p:spPr>
        <p:txBody>
          <a:bodyPr/>
          <a:lstStyle>
            <a:lvl1pPr marL="252000" indent="-252000">
              <a:spcBef>
                <a:spcPts val="1400"/>
              </a:spcBef>
              <a:spcAft>
                <a:spcPts val="0"/>
              </a:spcAft>
              <a:buAutoNum type="arabicPlain" startAt="7"/>
              <a:defRPr b="1"/>
            </a:lvl1pPr>
            <a:lvl2pPr marL="252000" indent="0">
              <a:lnSpc>
                <a:spcPct val="100000"/>
              </a:lnSpc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 dirty="0"/>
              <a:t>Sample section, Delivery Bold, </a:t>
            </a:r>
            <a:br>
              <a:rPr lang="en-US" dirty="0"/>
            </a:br>
            <a:r>
              <a:rPr lang="en-US" dirty="0"/>
              <a:t>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Sample text, Delivery, 12 </a:t>
            </a:r>
            <a:r>
              <a:rPr lang="en-US" dirty="0" err="1"/>
              <a:t>pt</a:t>
            </a:r>
            <a:endParaRPr lang="en-US" dirty="0"/>
          </a:p>
          <a:p>
            <a:pPr lvl="0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8337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F4958-514A-4601-B68D-C79842B999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7EF1F-9ACF-48EE-A949-EAF1464539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8F358-6501-48B8-80CA-E7836E5B98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B14529-BCAE-43FA-A029-C343F83E04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24000" y="1150938"/>
            <a:ext cx="8495999" cy="3528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sz="1200" dirty="0"/>
              <a:t>Bullet number, Delivery, 12 </a:t>
            </a:r>
            <a:r>
              <a:rPr lang="en-US" sz="1200" dirty="0" err="1"/>
              <a:t>pt</a:t>
            </a:r>
            <a:r>
              <a:rPr lang="en-US" sz="1200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5CED03-C33D-4356-A21D-74205078B24D}"/>
              </a:ext>
            </a:extLst>
          </p:cNvPr>
          <p:cNvSpPr/>
          <p:nvPr/>
        </p:nvSpPr>
        <p:spPr>
          <a:xfrm>
            <a:off x="2286000" y="1729212"/>
            <a:ext cx="4572000" cy="300082"/>
          </a:xfrm>
          <a:prstGeom prst="rect">
            <a:avLst/>
          </a:prstGeom>
        </p:spPr>
        <p:txBody>
          <a:bodyPr>
            <a:spAutoFit/>
          </a:bodyPr>
          <a:lstStyle/>
          <a:p>
            <a:pPr lvl="2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040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EF21E-737D-4419-BFB1-7E3BAF4E7B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C42CC-B85A-402A-8160-8B4CC79004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38AF6-F51C-40B8-BD5A-EE1AE942F1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866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9F3C-D71F-48B0-816B-AA2AB64973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4F32AD-3FC7-4091-8554-127642F806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80CEC-C0BC-4F28-99ED-9A7B307FEE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05EC38-B07E-496F-9ED7-8B08225083C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165450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9D4F118-EC4E-4697-8B94-89026AF38F0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54549" y="1150938"/>
            <a:ext cx="4165450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5355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,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21F6A-3851-4800-A70C-75B7E973A6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140EB-C614-490E-95CD-A54BE084B7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38679AF-4954-4658-B135-45730398D31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165450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FEE81-04E7-45FF-A241-7D07B82E5C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54549" y="1150938"/>
            <a:ext cx="4165450" cy="35306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 anchor="ctr"/>
          <a:lstStyle>
            <a:lvl1pPr algn="ctr"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97623A-4EAB-41C4-80D7-12A550C73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6956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, 1 picture half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3A2DAE2-6DBF-4F49-9437-0D73AEFD3F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292726" y="0"/>
            <a:ext cx="3851274" cy="5143500"/>
          </a:xfrm>
          <a:prstGeom prst="rect">
            <a:avLst/>
          </a:prstGeom>
          <a:solidFill>
            <a:srgbClr val="CCCCCC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graphicFrame>
        <p:nvGraphicFramePr>
          <p:cNvPr id="29" name="Objekt 28" hidden="1">
            <a:extLst>
              <a:ext uri="{FF2B5EF4-FFF2-40B4-BE49-F238E27FC236}">
                <a16:creationId xmlns:a16="http://schemas.microsoft.com/office/drawing/2014/main" id="{35CC8C36-E5F6-4785-85F2-7B1DD179C8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83918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29" name="Objekt 28" hidden="1">
                        <a:extLst>
                          <a:ext uri="{FF2B5EF4-FFF2-40B4-BE49-F238E27FC236}">
                            <a16:creationId xmlns:a16="http://schemas.microsoft.com/office/drawing/2014/main" id="{35CC8C36-E5F6-4785-85F2-7B1DD179C8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hteck 27" hidden="1">
            <a:extLst>
              <a:ext uri="{FF2B5EF4-FFF2-40B4-BE49-F238E27FC236}">
                <a16:creationId xmlns:a16="http://schemas.microsoft.com/office/drawing/2014/main" id="{5364B560-8A9F-4B7A-B988-CF7BF54F712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l"/>
            <a:endParaRPr lang="en-US" sz="1800" b="1" i="0" baseline="0" dirty="0">
              <a:latin typeface="Delivery" panose="020F0503020204020204" pitchFamily="34" charset="0"/>
              <a:ea typeface="+mj-ea"/>
              <a:cs typeface="+mj-cs"/>
              <a:sym typeface="Delivery" panose="020F0503020204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C25DC-2D9E-4ABF-8944-4D2479BF72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28FFF-C4F8-4DDC-9D47-88E9283C61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19A887B-6080-4228-99B7-DF904417247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644724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CE55F6D-FD9E-4946-8051-A82B7F883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385163"/>
            <a:ext cx="4644725" cy="493950"/>
          </a:xfrm>
        </p:spPr>
        <p:txBody>
          <a:bodyPr/>
          <a:lstStyle/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393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, 1 column half sid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D416913-53A8-4554-9E84-F88C14A369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92726" y="0"/>
            <a:ext cx="3851274" cy="5143500"/>
          </a:xfrm>
          <a:prstGeom prst="rect">
            <a:avLst/>
          </a:prstGeom>
          <a:solidFill>
            <a:srgbClr val="CCCCCC"/>
          </a:solidFill>
        </p:spPr>
        <p:txBody>
          <a:bodyPr lIns="324000" tIns="1152000" rIns="324000" bIns="432000" anchor="t" anchorCtr="0"/>
          <a:lstStyle>
            <a:lvl1pPr>
              <a:defRPr/>
            </a:lvl1pPr>
            <a:lvl4pPr>
              <a:defRPr/>
            </a:lvl4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endParaRPr lang="en-US" dirty="0"/>
          </a:p>
        </p:txBody>
      </p:sp>
      <p:graphicFrame>
        <p:nvGraphicFramePr>
          <p:cNvPr id="29" name="Objekt 28" hidden="1">
            <a:extLst>
              <a:ext uri="{FF2B5EF4-FFF2-40B4-BE49-F238E27FC236}">
                <a16:creationId xmlns:a16="http://schemas.microsoft.com/office/drawing/2014/main" id="{35CC8C36-E5F6-4785-85F2-7B1DD179C8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47642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29" name="Objekt 28" hidden="1">
                        <a:extLst>
                          <a:ext uri="{FF2B5EF4-FFF2-40B4-BE49-F238E27FC236}">
                            <a16:creationId xmlns:a16="http://schemas.microsoft.com/office/drawing/2014/main" id="{35CC8C36-E5F6-4785-85F2-7B1DD179C8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hteck 27" hidden="1">
            <a:extLst>
              <a:ext uri="{FF2B5EF4-FFF2-40B4-BE49-F238E27FC236}">
                <a16:creationId xmlns:a16="http://schemas.microsoft.com/office/drawing/2014/main" id="{5364B560-8A9F-4B7A-B988-CF7BF54F712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l"/>
            <a:endParaRPr lang="en-US" sz="1800" b="1" i="0" baseline="0" dirty="0">
              <a:latin typeface="Delivery" panose="020F0503020204020204" pitchFamily="34" charset="0"/>
              <a:ea typeface="+mj-ea"/>
              <a:cs typeface="+mj-cs"/>
              <a:sym typeface="Delivery" panose="020F05030202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99984-62A4-47EC-9933-2FCC1131CB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385200"/>
            <a:ext cx="4644725" cy="49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C25DC-2D9E-4ABF-8944-4D2479BF72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28FFF-C4F8-4DDC-9D47-88E9283C61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19A887B-6080-4228-99B7-DF904417247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644724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2701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1 column, 1 column half sid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D416913-53A8-4554-9E84-F88C14A369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92726" y="0"/>
            <a:ext cx="3851274" cy="5143500"/>
          </a:xfrm>
          <a:prstGeom prst="rect">
            <a:avLst/>
          </a:prstGeom>
          <a:gradFill>
            <a:gsLst>
              <a:gs pos="30000">
                <a:schemeClr val="accent3"/>
              </a:gs>
              <a:gs pos="79000">
                <a:srgbClr val="FFDE59"/>
              </a:gs>
              <a:gs pos="100000">
                <a:srgbClr val="FFF0B2"/>
              </a:gs>
            </a:gsLst>
            <a:lin ang="16200000" scaled="1"/>
          </a:gradFill>
        </p:spPr>
        <p:txBody>
          <a:bodyPr lIns="324000" tIns="1152000" rIns="324000" bIns="432000" anchor="t" anchorCtr="0"/>
          <a:lstStyle>
            <a:lvl1pPr>
              <a:defRPr/>
            </a:lvl1pPr>
            <a:lvl4pPr>
              <a:defRPr/>
            </a:lvl4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endParaRPr lang="en-US" dirty="0"/>
          </a:p>
        </p:txBody>
      </p:sp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B0B4FDD3-3FA4-45F2-86F1-10A9DA1AAD3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15531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B0B4FDD3-3FA4-45F2-86F1-10A9DA1AAD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6E863B02-413C-4D73-A746-5B2F80C99C0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l"/>
            <a:endParaRPr lang="en-US" sz="1800" b="1" i="0" baseline="0" dirty="0">
              <a:latin typeface="Delivery" panose="020F0503020204020204" pitchFamily="34" charset="0"/>
              <a:ea typeface="+mj-ea"/>
              <a:cs typeface="+mj-cs"/>
              <a:sym typeface="Delivery" panose="020F05030202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99984-62A4-47EC-9933-2FCC1131CB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385200"/>
            <a:ext cx="4644725" cy="49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C25DC-2D9E-4ABF-8944-4D2479BF72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28FFF-C4F8-4DDC-9D47-88E9283C61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19A887B-6080-4228-99B7-DF904417247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4001" y="1150938"/>
            <a:ext cx="4644724" cy="35306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4543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empty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6D0AD-4E79-4BFF-B8B5-BB937AA1CC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B27B9E-C404-4AF3-A250-0969317557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88F39-AB4C-43BD-98F0-FD644C1453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90685DA-4536-4D1F-9676-24537EC6488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4001" y="1150938"/>
            <a:ext cx="4165450" cy="35306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1D8F016-E9C1-4ED6-8F46-E30AD613382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54548" y="1150938"/>
            <a:ext cx="4165450" cy="35306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870435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ght imag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A35D9B1-6310-46E2-8EA7-BFC29B52C65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 algn="r">
              <a:defRPr/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907E47-AED8-4AB8-AA7A-2736D73CFC5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4000" y="1150938"/>
            <a:ext cx="8495999" cy="3528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200"/>
            </a:lvl6pPr>
            <a:lvl7pPr>
              <a:defRPr sz="1200"/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BCAE12-7456-4DFA-8832-22E05FDDD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1FF1B3-6C52-429B-B6E4-B7B0F4F27A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48D45-3AD0-4D87-AB1B-0B3F1D9CDB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1333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dark imag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C82AB236-DAFD-49F7-BBC2-7E52C86EE7C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33333"/>
          </a:solidFill>
        </p:spPr>
        <p:txBody>
          <a:bodyPr lIns="72000" tIns="72000" rIns="72000" bIns="72000"/>
          <a:lstStyle>
            <a:lvl1pPr marL="0" marR="0" indent="0" algn="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click the icon 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AF2E6C-875C-432B-B47A-A9E589B7C4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D9EC0-783C-4E03-8B54-EB815AE37D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4768-AEA5-4631-BC4A-8DB3B9447D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6D239E5-258B-41CA-ABAF-4A71EA5D0B1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4000" y="1150938"/>
            <a:ext cx="8495999" cy="352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 marL="0" marR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 sz="1200">
                <a:solidFill>
                  <a:schemeClr val="bg1"/>
                </a:solidFill>
              </a:defRPr>
            </a:lvl7pPr>
          </a:lstStyle>
          <a:p>
            <a:pPr lvl="0"/>
            <a:r>
              <a:rPr lang="en-US" dirty="0"/>
              <a:t>Body text in Delivery, 12 </a:t>
            </a:r>
            <a:r>
              <a:rPr lang="en-US" dirty="0" err="1"/>
              <a:t>pt</a:t>
            </a:r>
            <a:endParaRPr lang="en-US" dirty="0"/>
          </a:p>
          <a:p>
            <a:pPr lvl="1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Bullet text, Delivery, 12 </a:t>
            </a:r>
            <a:r>
              <a:rPr lang="en-US" dirty="0" err="1"/>
              <a:t>pt</a:t>
            </a:r>
            <a:endParaRPr lang="en-US" dirty="0"/>
          </a:p>
          <a:p>
            <a:pPr lvl="3"/>
            <a:r>
              <a:rPr lang="en-US" dirty="0"/>
              <a:t>Bullet text,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Action title, Delivery Regular, 15 </a:t>
            </a:r>
            <a:r>
              <a:rPr lang="en-US" dirty="0" err="1"/>
              <a:t>pt</a:t>
            </a:r>
            <a:endParaRPr lang="en-US" dirty="0"/>
          </a:p>
          <a:p>
            <a:pPr lvl="5"/>
            <a:r>
              <a:rPr lang="en-US" dirty="0"/>
              <a:t>Paragraph Headline, Delivery Bold, 12 </a:t>
            </a:r>
            <a:r>
              <a:rPr lang="en-US" dirty="0" err="1"/>
              <a:t>pt</a:t>
            </a:r>
            <a:endParaRPr lang="en-US" dirty="0"/>
          </a:p>
          <a:p>
            <a:pPr lvl="6"/>
            <a:r>
              <a:rPr lang="en-US" dirty="0"/>
              <a:t>Bullet number, Delivery, 12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0102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full screen video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>
            <a:extLst>
              <a:ext uri="{FF2B5EF4-FFF2-40B4-BE49-F238E27FC236}">
                <a16:creationId xmlns:a16="http://schemas.microsoft.com/office/drawing/2014/main" id="{DB4843D2-D66C-4483-9BEF-0EA790E357B6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CCCCC"/>
          </a:solidFill>
        </p:spPr>
        <p:txBody>
          <a:bodyPr lIns="72000" tIns="72000" rIns="72000" bIns="72000"/>
          <a:lstStyle>
            <a:lvl1pPr algn="r">
              <a:defRPr/>
            </a:lvl1pPr>
          </a:lstStyle>
          <a:p>
            <a:r>
              <a:rPr lang="en-US" dirty="0"/>
              <a:t>Please click the icon to insert a video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885550-4E65-4CBF-8046-671CF042C5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867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: full page gradient">
    <p:bg>
      <p:bgPr>
        <a:gradFill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9381F4-F305-4DA8-90F9-2961F8C245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6B0F1-5579-4CB2-B05C-7E560EFBC1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ABAA4C-A627-4F72-ADBD-217F33287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74117" y="1963196"/>
            <a:ext cx="5233987" cy="89761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sz="2500" i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“This space is reserved for quotes.</a:t>
            </a:r>
            <a:br>
              <a:rPr lang="en-US" dirty="0"/>
            </a:br>
            <a:r>
              <a:rPr lang="en-US" dirty="0"/>
              <a:t>Delivery Italic, 25 pt.”</a:t>
            </a:r>
          </a:p>
        </p:txBody>
      </p:sp>
    </p:spTree>
    <p:extLst>
      <p:ext uri="{BB962C8B-B14F-4D97-AF65-F5344CB8AC3E}">
        <p14:creationId xmlns:p14="http://schemas.microsoft.com/office/powerpoint/2010/main" val="210593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: full page gradient">
    <p:bg>
      <p:bgPr>
        <a:gradFill>
          <a:gsLst>
            <a:gs pos="30000">
              <a:schemeClr val="accent3"/>
            </a:gs>
            <a:gs pos="79000">
              <a:srgbClr val="FFDE59"/>
            </a:gs>
            <a:gs pos="100000">
              <a:srgbClr val="FFF0B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9381F4-F305-4DA8-90F9-2961F8C245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6B0F1-5579-4CB2-B05C-7E560EFBC1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0DCF4F-94A3-4ECD-931B-78A92C777558}"/>
              </a:ext>
            </a:extLst>
          </p:cNvPr>
          <p:cNvSpPr txBox="1"/>
          <p:nvPr/>
        </p:nvSpPr>
        <p:spPr>
          <a:xfrm>
            <a:off x="319293" y="1485178"/>
            <a:ext cx="313416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600" b="0" cap="all" baseline="0" noProof="0" dirty="0">
                <a:solidFill>
                  <a:schemeClr val="accent4"/>
                </a:solidFill>
                <a:latin typeface="Delivery Cd Black" panose="020F0906020204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810315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PI Operational Defin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9" name="Objec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le 3"/>
          <p:cNvGraphicFramePr>
            <a:graphicFrameLocks noGrp="1"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205432463"/>
              </p:ext>
            </p:extLst>
          </p:nvPr>
        </p:nvGraphicFramePr>
        <p:xfrm>
          <a:off x="414002" y="717247"/>
          <a:ext cx="8413951" cy="3834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2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876">
                <a:tc>
                  <a:txBody>
                    <a:bodyPr/>
                    <a:lstStyle/>
                    <a:p>
                      <a:pPr marL="0" marR="0" indent="0" algn="l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endParaRPr lang="en-US" sz="900"/>
                    </a:p>
                  </a:txBody>
                  <a:tcPr marL="94024" marR="94024" marT="35259" marB="352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625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94024" marR="94024" marT="35259" marB="352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02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94024" marR="94024" marT="35259" marB="352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endParaRPr lang="en-US" sz="900"/>
                    </a:p>
                  </a:txBody>
                  <a:tcPr marL="94024" marR="94024" marT="35259" marB="352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815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94024" marR="94024" marT="35259" marB="352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94024" marR="94024" marT="35259" marB="352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94024" marR="94024" marT="35259" marB="352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900" i="1"/>
                    </a:p>
                  </a:txBody>
                  <a:tcPr marL="94024" marR="94024" marT="35259" marB="352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Rectangle 29"/>
          <p:cNvSpPr/>
          <p:nvPr userDrawn="1"/>
        </p:nvSpPr>
        <p:spPr>
          <a:xfrm>
            <a:off x="2019540" y="938715"/>
            <a:ext cx="6766560" cy="548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ChangeArrowheads="1"/>
          </p:cNvSpPr>
          <p:nvPr userDrawn="1"/>
        </p:nvSpPr>
        <p:spPr bwMode="gray">
          <a:xfrm>
            <a:off x="456703" y="732158"/>
            <a:ext cx="1463040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KPI Name &amp; Acronym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2054761" y="980902"/>
            <a:ext cx="6675120" cy="138500"/>
          </a:xfrm>
          <a:noFill/>
        </p:spPr>
        <p:txBody>
          <a:bodyPr anchor="t"/>
          <a:lstStyle>
            <a:lvl1pPr algn="l" defTabSz="658416">
              <a:buClr>
                <a:srgbClr val="FFCC00"/>
              </a:buClr>
              <a:buFont typeface="Wingdings" pitchFamily="2" charset="2"/>
              <a:buNone/>
              <a:defRPr sz="900"/>
            </a:lvl1pPr>
          </a:lstStyle>
          <a:p>
            <a:pPr defTabSz="877888">
              <a:buClr>
                <a:srgbClr val="FFCC00"/>
              </a:buClr>
              <a:buFont typeface="Wingdings" pitchFamily="2" charset="2"/>
              <a:buNone/>
            </a:pPr>
            <a:r>
              <a:rPr lang="en-US" sz="900">
                <a:solidFill>
                  <a:srgbClr val="000000"/>
                </a:solidFill>
              </a:rPr>
              <a:t>Short description of the measurement and its objectives</a:t>
            </a:r>
          </a:p>
        </p:txBody>
      </p:sp>
      <p:sp>
        <p:nvSpPr>
          <p:cNvPr id="15" name="Rectangle 6"/>
          <p:cNvSpPr>
            <a:spLocks noChangeArrowheads="1"/>
          </p:cNvSpPr>
          <p:nvPr userDrawn="1"/>
        </p:nvSpPr>
        <p:spPr bwMode="gray">
          <a:xfrm>
            <a:off x="2021160" y="750363"/>
            <a:ext cx="6766560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Description</a:t>
            </a:r>
          </a:p>
        </p:txBody>
      </p:sp>
      <p:sp>
        <p:nvSpPr>
          <p:cNvPr id="16" name="Rectangle 6"/>
          <p:cNvSpPr>
            <a:spLocks noChangeArrowheads="1"/>
          </p:cNvSpPr>
          <p:nvPr userDrawn="1"/>
        </p:nvSpPr>
        <p:spPr bwMode="gray">
          <a:xfrm>
            <a:off x="2025923" y="1547253"/>
            <a:ext cx="6766560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KPI Definition and</a:t>
            </a:r>
            <a:r>
              <a:rPr lang="en-US" sz="900" b="1" baseline="0">
                <a:solidFill>
                  <a:srgbClr val="000000"/>
                </a:solidFill>
              </a:rPr>
              <a:t> </a:t>
            </a:r>
            <a:r>
              <a:rPr lang="en-US" sz="900" b="1">
                <a:solidFill>
                  <a:srgbClr val="000000"/>
                </a:solidFill>
              </a:rPr>
              <a:t>Calculation Rules</a:t>
            </a:r>
          </a:p>
        </p:txBody>
      </p:sp>
      <p:sp>
        <p:nvSpPr>
          <p:cNvPr id="17" name="Rectangle 6"/>
          <p:cNvSpPr>
            <a:spLocks noChangeArrowheads="1"/>
          </p:cNvSpPr>
          <p:nvPr userDrawn="1"/>
        </p:nvSpPr>
        <p:spPr bwMode="gray">
          <a:xfrm>
            <a:off x="443061" y="1548115"/>
            <a:ext cx="1463040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Version</a:t>
            </a:r>
          </a:p>
        </p:txBody>
      </p:sp>
      <p:sp>
        <p:nvSpPr>
          <p:cNvPr id="18" name="Rectangle 6"/>
          <p:cNvSpPr>
            <a:spLocks noChangeArrowheads="1"/>
          </p:cNvSpPr>
          <p:nvPr userDrawn="1"/>
        </p:nvSpPr>
        <p:spPr bwMode="gray">
          <a:xfrm>
            <a:off x="455783" y="2149147"/>
            <a:ext cx="1463040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KPI Owner</a:t>
            </a:r>
          </a:p>
        </p:txBody>
      </p:sp>
      <p:sp>
        <p:nvSpPr>
          <p:cNvPr id="19" name="Rectangle 6"/>
          <p:cNvSpPr>
            <a:spLocks noChangeArrowheads="1"/>
          </p:cNvSpPr>
          <p:nvPr userDrawn="1"/>
        </p:nvSpPr>
        <p:spPr bwMode="gray">
          <a:xfrm>
            <a:off x="456705" y="4121565"/>
            <a:ext cx="1463040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Approve by</a:t>
            </a:r>
          </a:p>
        </p:txBody>
      </p:sp>
      <p:sp>
        <p:nvSpPr>
          <p:cNvPr id="20" name="Rectangle 6"/>
          <p:cNvSpPr>
            <a:spLocks noChangeArrowheads="1"/>
          </p:cNvSpPr>
          <p:nvPr userDrawn="1"/>
        </p:nvSpPr>
        <p:spPr bwMode="gray">
          <a:xfrm>
            <a:off x="2021161" y="4129516"/>
            <a:ext cx="3200400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Data Sources</a:t>
            </a:r>
          </a:p>
        </p:txBody>
      </p:sp>
      <p:sp>
        <p:nvSpPr>
          <p:cNvPr id="21" name="Rectangle 6"/>
          <p:cNvSpPr>
            <a:spLocks noChangeArrowheads="1"/>
          </p:cNvSpPr>
          <p:nvPr userDrawn="1"/>
        </p:nvSpPr>
        <p:spPr bwMode="gray">
          <a:xfrm>
            <a:off x="5313677" y="4127237"/>
            <a:ext cx="3468553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Reporting Frequency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975" y="4314016"/>
            <a:ext cx="3200400" cy="149994"/>
          </a:xfrm>
        </p:spPr>
        <p:txBody>
          <a:bodyPr anchor="t"/>
          <a:lstStyle>
            <a:lvl1pPr>
              <a:defRPr sz="900"/>
            </a:lvl1pPr>
            <a:lvl2pPr marL="0" indent="0">
              <a:buNone/>
              <a:defRPr sz="900"/>
            </a:lvl2pPr>
          </a:lstStyle>
          <a:p>
            <a:pPr marL="0" lvl="1" defTabSz="658416" eaLnBrk="0" hangingPunct="0">
              <a:buClr>
                <a:srgbClr val="FFCC00"/>
              </a:buClr>
            </a:pPr>
            <a:r>
              <a:rPr lang="en-US" sz="825">
                <a:solidFill>
                  <a:srgbClr val="000000"/>
                </a:solidFill>
              </a:rPr>
              <a:t>Data sources 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14" hasCustomPrompt="1"/>
          </p:nvPr>
        </p:nvSpPr>
        <p:spPr>
          <a:xfrm>
            <a:off x="466231" y="4317560"/>
            <a:ext cx="1463040" cy="138500"/>
          </a:xfrm>
        </p:spPr>
        <p:txBody>
          <a:bodyPr anchor="t"/>
          <a:lstStyle>
            <a:lvl1pPr defTabSz="658416">
              <a:buClr>
                <a:srgbClr val="FFCC00"/>
              </a:buClr>
              <a:buFont typeface="Wingdings" pitchFamily="2" charset="2"/>
              <a:buNone/>
              <a:defRPr sz="900" b="0"/>
            </a:lvl1pPr>
          </a:lstStyle>
          <a:p>
            <a:pPr defTabSz="877888">
              <a:buClr>
                <a:srgbClr val="FFCC00"/>
              </a:buClr>
              <a:buFont typeface="Wingdings" pitchFamily="2" charset="2"/>
              <a:buNone/>
            </a:pPr>
            <a:r>
              <a:rPr lang="en-US" sz="900">
                <a:solidFill>
                  <a:srgbClr val="000000"/>
                </a:solidFill>
              </a:rPr>
              <a:t>Approver; DD/MM/YYYY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460542" y="1725308"/>
            <a:ext cx="1463040" cy="163695"/>
          </a:xfrm>
        </p:spPr>
        <p:txBody>
          <a:bodyPr anchor="t"/>
          <a:lstStyle>
            <a:lvl1pPr>
              <a:defRPr sz="900"/>
            </a:lvl1pPr>
          </a:lstStyle>
          <a:p>
            <a:pPr lvl="0"/>
            <a:r>
              <a:rPr lang="en-US"/>
              <a:t>&lt;Version #&gt;</a:t>
            </a:r>
          </a:p>
        </p:txBody>
      </p:sp>
      <p:sp>
        <p:nvSpPr>
          <p:cNvPr id="28" name="Text Placeholder 22"/>
          <p:cNvSpPr>
            <a:spLocks noGrp="1"/>
          </p:cNvSpPr>
          <p:nvPr>
            <p:ph type="body" sz="quarter" idx="17" hasCustomPrompt="1"/>
          </p:nvPr>
        </p:nvSpPr>
        <p:spPr>
          <a:xfrm>
            <a:off x="472137" y="930337"/>
            <a:ext cx="1463040" cy="548640"/>
          </a:xfrm>
        </p:spPr>
        <p:txBody>
          <a:bodyPr anchor="t"/>
          <a:lstStyle>
            <a:lvl1pPr>
              <a:defRPr sz="900" b="1" baseline="0"/>
            </a:lvl1pPr>
          </a:lstStyle>
          <a:p>
            <a:pPr lvl="0"/>
            <a:r>
              <a:rPr lang="en-US"/>
              <a:t>&lt;KPI Name&gt;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 hasCustomPrompt="1"/>
          </p:nvPr>
        </p:nvSpPr>
        <p:spPr>
          <a:xfrm>
            <a:off x="414000" y="150679"/>
            <a:ext cx="5734064" cy="51921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&lt;KPI NAME&gt;</a:t>
            </a:r>
          </a:p>
        </p:txBody>
      </p:sp>
      <p:sp>
        <p:nvSpPr>
          <p:cNvPr id="35" name="Rechteck 8"/>
          <p:cNvSpPr/>
          <p:nvPr userDrawn="1"/>
        </p:nvSpPr>
        <p:spPr bwMode="gray">
          <a:xfrm>
            <a:off x="8422229" y="4560679"/>
            <a:ext cx="362862" cy="189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r" defTabSz="746522" eaLnBrk="0" fontAlgn="base" hangingPunct="0">
              <a:spcBef>
                <a:spcPct val="0"/>
              </a:spcBef>
              <a:spcAft>
                <a:spcPct val="0"/>
              </a:spcAft>
            </a:pPr>
            <a:fld id="{2E45E626-985F-4F96-B1C4-178AC390C14C}" type="slidenum">
              <a:rPr lang="en-US" sz="750" smtClean="0">
                <a:solidFill>
                  <a:srgbClr val="000000"/>
                </a:solidFill>
              </a:rPr>
              <a:pPr algn="r" defTabSz="746522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750">
              <a:solidFill>
                <a:srgbClr val="000000"/>
              </a:solidFill>
            </a:endParaRP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19" hasCustomPrompt="1"/>
          </p:nvPr>
        </p:nvSpPr>
        <p:spPr>
          <a:xfrm>
            <a:off x="5328006" y="4306065"/>
            <a:ext cx="3434837" cy="149994"/>
          </a:xfrm>
        </p:spPr>
        <p:txBody>
          <a:bodyPr anchor="t"/>
          <a:lstStyle>
            <a:lvl1pPr>
              <a:defRPr sz="900"/>
            </a:lvl1pPr>
            <a:lvl2pPr marL="0" indent="0">
              <a:buNone/>
              <a:defRPr sz="900" baseline="0"/>
            </a:lvl2pPr>
          </a:lstStyle>
          <a:p>
            <a:pPr marL="0" lvl="1" defTabSz="658416" eaLnBrk="0" hangingPunct="0">
              <a:buClr>
                <a:srgbClr val="FFCC00"/>
              </a:buClr>
            </a:pPr>
            <a:r>
              <a:rPr lang="en-US" sz="825">
                <a:solidFill>
                  <a:srgbClr val="000000"/>
                </a:solidFill>
              </a:rPr>
              <a:t>Daily / Monthly / Annually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2054761" y="1765162"/>
            <a:ext cx="6367468" cy="276999"/>
          </a:xfr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 lIns="0" tIns="91440" bIns="91440" anchor="ctr"/>
          <a:lstStyle>
            <a:lvl1pPr algn="ctr" defTabSz="658416">
              <a:buClr>
                <a:srgbClr val="FFCC00"/>
              </a:buClr>
              <a:buFont typeface="Wingdings" pitchFamily="2" charset="2"/>
              <a:buNone/>
              <a:defRPr sz="900"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</a:lstStyle>
          <a:p>
            <a:pPr defTabSz="877888">
              <a:buClr>
                <a:srgbClr val="FFCC00"/>
              </a:buClr>
              <a:buFont typeface="Wingdings" pitchFamily="2" charset="2"/>
              <a:buNone/>
            </a:pPr>
            <a:r>
              <a:rPr lang="en-US" sz="900">
                <a:solidFill>
                  <a:srgbClr val="000000"/>
                </a:solidFill>
              </a:rPr>
              <a:t>Type equation here</a:t>
            </a:r>
          </a:p>
        </p:txBody>
      </p:sp>
      <p:sp>
        <p:nvSpPr>
          <p:cNvPr id="54" name="Text Placeholder 22"/>
          <p:cNvSpPr>
            <a:spLocks noGrp="1"/>
          </p:cNvSpPr>
          <p:nvPr>
            <p:ph type="body" sz="quarter" idx="21" hasCustomPrompt="1"/>
          </p:nvPr>
        </p:nvSpPr>
        <p:spPr>
          <a:xfrm>
            <a:off x="473260" y="2328069"/>
            <a:ext cx="1463040" cy="461645"/>
          </a:xfrm>
        </p:spPr>
        <p:txBody>
          <a:bodyPr anchor="t"/>
          <a:lstStyle>
            <a:lvl1pPr defTabSz="658416">
              <a:buClr>
                <a:srgbClr val="FFCC00"/>
              </a:buClr>
              <a:buFont typeface="Wingdings" pitchFamily="2" charset="2"/>
              <a:buNone/>
              <a:defRPr sz="900" b="1" baseline="0"/>
            </a:lvl1pPr>
          </a:lstStyle>
          <a:p>
            <a:pPr defTabSz="877888">
              <a:buClr>
                <a:srgbClr val="FFCC00"/>
              </a:buClr>
              <a:buFont typeface="Wingdings" pitchFamily="2" charset="2"/>
              <a:buNone/>
            </a:pPr>
            <a:r>
              <a:rPr lang="en-US" sz="900">
                <a:solidFill>
                  <a:srgbClr val="000000"/>
                </a:solidFill>
              </a:rPr>
              <a:t>Owner’s name, department</a:t>
            </a:r>
          </a:p>
        </p:txBody>
      </p:sp>
      <p:sp>
        <p:nvSpPr>
          <p:cNvPr id="55" name="Text Placeholder 22"/>
          <p:cNvSpPr>
            <a:spLocks noGrp="1"/>
          </p:cNvSpPr>
          <p:nvPr>
            <p:ph type="body" sz="quarter" idx="22" hasCustomPrompt="1"/>
          </p:nvPr>
        </p:nvSpPr>
        <p:spPr>
          <a:xfrm>
            <a:off x="466229" y="3272545"/>
            <a:ext cx="1463040" cy="138500"/>
          </a:xfrm>
        </p:spPr>
        <p:txBody>
          <a:bodyPr anchor="t"/>
          <a:lstStyle>
            <a:lvl1pPr defTabSz="658416">
              <a:buClr>
                <a:srgbClr val="FFCC00"/>
              </a:buClr>
              <a:buFont typeface="Wingdings" pitchFamily="2" charset="2"/>
              <a:buNone/>
              <a:defRPr sz="900" b="1" baseline="0"/>
            </a:lvl1pPr>
          </a:lstStyle>
          <a:p>
            <a:pPr defTabSz="877888">
              <a:buClr>
                <a:srgbClr val="FFCC00"/>
              </a:buClr>
              <a:buFont typeface="Wingdings" pitchFamily="2" charset="2"/>
              <a:buNone/>
            </a:pPr>
            <a:r>
              <a:rPr lang="en-US" sz="900">
                <a:solidFill>
                  <a:srgbClr val="000000"/>
                </a:solidFill>
              </a:rPr>
              <a:t>Contact Name (optional)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2038859" y="2127987"/>
            <a:ext cx="6723984" cy="1920240"/>
          </a:xfrm>
        </p:spPr>
        <p:txBody>
          <a:bodyPr lIns="182880" tIns="91440" anchor="t"/>
          <a:lstStyle>
            <a:lvl1pPr>
              <a:defRPr sz="900"/>
            </a:lvl1pPr>
            <a:lvl2pPr marL="148205" indent="-146990">
              <a:buClr>
                <a:srgbClr val="FFC000"/>
              </a:buClr>
              <a:buFont typeface="Arial" panose="020B0604020202020204" pitchFamily="34" charset="0"/>
              <a:buChar char="■"/>
              <a:defRPr sz="900"/>
            </a:lvl2pPr>
            <a:lvl3pPr>
              <a:buClr>
                <a:srgbClr val="FFC000"/>
              </a:buClr>
              <a:defRPr sz="900"/>
            </a:lvl3pPr>
            <a:lvl4pPr>
              <a:buClr>
                <a:srgbClr val="FFC000"/>
              </a:buClr>
              <a:defRPr sz="900"/>
            </a:lvl4pPr>
            <a:lvl5pPr>
              <a:buClr>
                <a:srgbClr val="FFC000"/>
              </a:buClr>
              <a:defRPr sz="900"/>
            </a:lvl5pPr>
          </a:lstStyle>
          <a:p>
            <a:pPr lvl="0"/>
            <a:r>
              <a:rPr lang="en-US"/>
              <a:t>Description of calculation formula and scope of measurement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Rechteck 11"/>
          <p:cNvSpPr/>
          <p:nvPr userDrawn="1"/>
        </p:nvSpPr>
        <p:spPr bwMode="hidden">
          <a:xfrm>
            <a:off x="179388" y="4464245"/>
            <a:ext cx="8784000" cy="540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accent3"/>
              </a:gs>
              <a:gs pos="36000">
                <a:schemeClr val="accent3">
                  <a:alpha val="77000"/>
                </a:schemeClr>
              </a:gs>
              <a:gs pos="52000">
                <a:schemeClr val="accent3">
                  <a:alpha val="90000"/>
                </a:schemeClr>
              </a:gs>
              <a:gs pos="74000">
                <a:schemeClr val="accent3"/>
              </a:gs>
            </a:gsLst>
            <a:lin ang="54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08000" tIns="108000" rIns="108000" bIns="108000" numCol="1" rtlCol="0" anchor="ctr" anchorCtr="0" compatLnSpc="1">
            <a:prstTxWarp prst="textNoShape">
              <a:avLst/>
            </a:prstTxWarp>
          </a:bodyPr>
          <a:lstStyle/>
          <a:p>
            <a:pPr defTabSz="746522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50">
              <a:solidFill>
                <a:srgbClr val="000000"/>
              </a:solidFill>
            </a:endParaRPr>
          </a:p>
        </p:txBody>
      </p:sp>
      <p:sp>
        <p:nvSpPr>
          <p:cNvPr id="32" name="Rechteck 8"/>
          <p:cNvSpPr/>
          <p:nvPr userDrawn="1"/>
        </p:nvSpPr>
        <p:spPr bwMode="gray">
          <a:xfrm>
            <a:off x="8422229" y="4560679"/>
            <a:ext cx="362862" cy="189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r" defTabSz="746522" eaLnBrk="0" fontAlgn="base" hangingPunct="0">
              <a:spcBef>
                <a:spcPct val="0"/>
              </a:spcBef>
              <a:spcAft>
                <a:spcPct val="0"/>
              </a:spcAft>
            </a:pPr>
            <a:fld id="{2E45E626-985F-4F96-B1C4-178AC390C14C}" type="slidenum">
              <a:rPr lang="en-US" sz="750" smtClean="0">
                <a:solidFill>
                  <a:srgbClr val="000000"/>
                </a:solidFill>
              </a:rPr>
              <a:pPr algn="r" defTabSz="746522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750">
              <a:solidFill>
                <a:srgbClr val="000000"/>
              </a:solidFill>
            </a:endParaRPr>
          </a:p>
        </p:txBody>
      </p:sp>
      <p:pic>
        <p:nvPicPr>
          <p:cNvPr id="34" name="Picture 3" descr="C:\MyData\Docs\01_Presentations in Progress\27183_Template2010\20140402_Formatted_Templates\DHL_rgb_BG.png"/>
          <p:cNvPicPr>
            <a:picLocks noChangeAspect="1" noChangeArrowheads="1"/>
          </p:cNvPicPr>
          <p:nvPr userDrawn="1"/>
        </p:nvPicPr>
        <p:blipFill>
          <a:blip r:embed="rId5"/>
          <a:stretch>
            <a:fillRect/>
          </a:stretch>
        </p:blipFill>
        <p:spPr bwMode="auto">
          <a:xfrm>
            <a:off x="466229" y="4608660"/>
            <a:ext cx="1463040" cy="15834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Rectangle 6"/>
          <p:cNvSpPr>
            <a:spLocks noChangeArrowheads="1"/>
          </p:cNvSpPr>
          <p:nvPr userDrawn="1"/>
        </p:nvSpPr>
        <p:spPr bwMode="gray">
          <a:xfrm>
            <a:off x="443061" y="3032760"/>
            <a:ext cx="1463040" cy="1523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34290" tIns="6858" rIns="34290" bIns="6858" anchor="t" anchorCtr="0">
            <a:spAutoFit/>
          </a:bodyPr>
          <a:lstStyle/>
          <a:p>
            <a:pPr defTabSz="658416" eaLnBrk="0" hangingPunct="0"/>
            <a:r>
              <a:rPr lang="en-US" sz="900" b="1">
                <a:solidFill>
                  <a:srgbClr val="000000"/>
                </a:solidFill>
              </a:rPr>
              <a:t>KPI Contact</a:t>
            </a:r>
          </a:p>
        </p:txBody>
      </p:sp>
    </p:spTree>
    <p:extLst>
      <p:ext uri="{BB962C8B-B14F-4D97-AF65-F5344CB8AC3E}">
        <p14:creationId xmlns:p14="http://schemas.microsoft.com/office/powerpoint/2010/main" val="4160638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A856C2E-8F2D-41A0-AE6C-F0526A45A6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3999" y="4803982"/>
            <a:ext cx="8117532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DHL | Presentation title | Location | xx Month 20xx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9B7831-1594-4A3A-AB85-33FDCF3EA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1531" y="4803982"/>
            <a:ext cx="378469" cy="1384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2245BC1-4D7B-4ED3-8F01-840FA35126C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2927099-8B95-48F9-92CE-1BDC9AB08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385163"/>
            <a:ext cx="8495999" cy="49395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Double headline with one or two lines, Delivery Bold,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1540D8D-44A2-4357-96AC-187F9742D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999" y="1150938"/>
            <a:ext cx="8496151" cy="3530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Body </a:t>
            </a:r>
            <a:r>
              <a:rPr lang="de-DE" dirty="0" err="1"/>
              <a:t>text</a:t>
            </a:r>
            <a:r>
              <a:rPr lang="de-DE" dirty="0"/>
              <a:t> in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Bullet </a:t>
            </a:r>
            <a:r>
              <a:rPr lang="de-DE" dirty="0" err="1"/>
              <a:t>text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2"/>
            <a:r>
              <a:rPr lang="de-DE" dirty="0"/>
              <a:t>Bullet </a:t>
            </a:r>
            <a:r>
              <a:rPr lang="de-DE" dirty="0" err="1"/>
              <a:t>text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3"/>
            <a:r>
              <a:rPr lang="de-DE" dirty="0"/>
              <a:t>Bullet </a:t>
            </a:r>
            <a:r>
              <a:rPr lang="de-DE" dirty="0" err="1"/>
              <a:t>text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4"/>
            <a:r>
              <a:rPr lang="de-DE" dirty="0"/>
              <a:t>Action title, </a:t>
            </a:r>
            <a:r>
              <a:rPr lang="de-DE" dirty="0" err="1"/>
              <a:t>Delivery</a:t>
            </a:r>
            <a:r>
              <a:rPr lang="de-DE" dirty="0"/>
              <a:t> Regular, 15 </a:t>
            </a:r>
            <a:r>
              <a:rPr lang="de-DE" dirty="0" err="1"/>
              <a:t>pt</a:t>
            </a:r>
            <a:endParaRPr lang="de-DE" dirty="0"/>
          </a:p>
          <a:p>
            <a:pPr lvl="5"/>
            <a:r>
              <a:rPr lang="de-DE" dirty="0"/>
              <a:t>Paragraph Headline, </a:t>
            </a:r>
            <a:r>
              <a:rPr lang="de-DE" dirty="0" err="1"/>
              <a:t>DeliveryBold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  <a:p>
            <a:pPr lvl="6"/>
            <a:r>
              <a:rPr lang="de-DE" dirty="0"/>
              <a:t>Bullet </a:t>
            </a:r>
            <a:r>
              <a:rPr lang="de-DE" dirty="0" err="1"/>
              <a:t>number</a:t>
            </a:r>
            <a:r>
              <a:rPr lang="de-DE" dirty="0"/>
              <a:t>, </a:t>
            </a:r>
            <a:r>
              <a:rPr lang="de-DE" dirty="0" err="1"/>
              <a:t>Delivery</a:t>
            </a:r>
            <a:r>
              <a:rPr lang="de-DE" dirty="0"/>
              <a:t>, 12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3" name="MSIPCMContentMarking" descr="{&quot;HashCode&quot;:905108722,&quot;Placement&quot;:&quot;Header&quot;,&quot;Top&quot;:0.0,&quot;Left&quot;:0.0,&quot;SlideWidth&quot;:720,&quot;SlideHeight&quot;:405}">
            <a:extLst>
              <a:ext uri="{FF2B5EF4-FFF2-40B4-BE49-F238E27FC236}">
                <a16:creationId xmlns:a16="http://schemas.microsoft.com/office/drawing/2014/main" id="{73BB407B-197C-4DF5-BE90-EFEA44C42100}"/>
              </a:ext>
            </a:extLst>
          </p:cNvPr>
          <p:cNvSpPr txBox="1"/>
          <p:nvPr userDrawn="1"/>
        </p:nvSpPr>
        <p:spPr>
          <a:xfrm>
            <a:off x="0" y="0"/>
            <a:ext cx="1387009" cy="23431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747474"/>
                </a:solidFill>
                <a:latin typeface="Delivery" panose="020F0503020204020204" pitchFamily="34" charset="0"/>
              </a:rPr>
              <a:t>FOR INTERNAL USE</a:t>
            </a:r>
            <a:endParaRPr lang="en-US" sz="1000" dirty="0" err="1">
              <a:solidFill>
                <a:srgbClr val="747474"/>
              </a:solidFill>
              <a:latin typeface="Delivery" panose="020F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4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9" r:id="rId5"/>
    <p:sldLayoutId id="2147483653" r:id="rId6"/>
    <p:sldLayoutId id="2147483654" r:id="rId7"/>
    <p:sldLayoutId id="2147483666" r:id="rId8"/>
    <p:sldLayoutId id="2147483655" r:id="rId9"/>
    <p:sldLayoutId id="2147483656" r:id="rId10"/>
    <p:sldLayoutId id="2147483657" r:id="rId11"/>
    <p:sldLayoutId id="2147483658" r:id="rId12"/>
    <p:sldLayoutId id="2147483670" r:id="rId13"/>
    <p:sldLayoutId id="2147483671" r:id="rId14"/>
    <p:sldLayoutId id="2147483672" r:id="rId15"/>
    <p:sldLayoutId id="2147483661" r:id="rId16"/>
    <p:sldLayoutId id="2147483662" r:id="rId17"/>
    <p:sldLayoutId id="2147483663" r:id="rId18"/>
    <p:sldLayoutId id="2147483668" r:id="rId19"/>
    <p:sldLayoutId id="2147483664" r:id="rId20"/>
    <p:sldLayoutId id="2147483665" r:id="rId21"/>
    <p:sldLayoutId id="2147483673" r:id="rId22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+mj-lt"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18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+mj-lt"/>
        <a:buAutoNum type="arabicPeriod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6858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+mj-lt"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180000" indent="-180000" algn="l" defTabSz="685800" rtl="0" eaLnBrk="1" latinLnBrk="0" hangingPunct="1">
        <a:lnSpc>
          <a:spcPct val="110000"/>
        </a:lnSpc>
        <a:spcBef>
          <a:spcPts val="0"/>
        </a:spcBef>
        <a:spcAft>
          <a:spcPts val="500"/>
        </a:spcAft>
        <a:buClr>
          <a:schemeClr val="accent4"/>
        </a:buClr>
        <a:buFont typeface="+mj-lt"/>
        <a:buAutoNum type="arabicPeriod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 userDrawn="1">
          <p15:clr>
            <a:srgbClr val="F26B43"/>
          </p15:clr>
        </p15:guide>
        <p15:guide id="3" pos="5556" userDrawn="1">
          <p15:clr>
            <a:srgbClr val="F26B43"/>
          </p15:clr>
        </p15:guide>
        <p15:guide id="6" orient="horz" pos="725" userDrawn="1">
          <p15:clr>
            <a:srgbClr val="F26B43"/>
          </p15:clr>
        </p15:guide>
        <p15:guide id="17" orient="horz" pos="2949" userDrawn="1">
          <p15:clr>
            <a:srgbClr val="F26B43"/>
          </p15:clr>
        </p15:guide>
        <p15:guide id="18" orient="horz" pos="2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8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9.xml"/><Relationship Id="rId5" Type="http://schemas.openxmlformats.org/officeDocument/2006/relationships/image" Target="../media/image8.png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AFD876F-8451-AD59-3A57-271C3520A1B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D876F-8451-AD59-3A57-271C3520A1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037619" y="960326"/>
            <a:ext cx="6725223" cy="534600"/>
          </a:xfrm>
        </p:spPr>
        <p:txBody>
          <a:bodyPr/>
          <a:lstStyle/>
          <a:p>
            <a:pPr fontAlgn="t">
              <a:spcAft>
                <a:spcPts val="0"/>
              </a:spcAft>
            </a:pPr>
            <a:r>
              <a:rPr kumimoji="0" lang="en-US" sz="9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/>
                <a:cs typeface="Arial"/>
              </a:rPr>
              <a:t>Measures IT Services’ ability to find root cause(s) for incidents and eliminate them. </a:t>
            </a:r>
            <a:r>
              <a:rPr kumimoji="0" lang="en-US" sz="90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/>
                <a:cs typeface="Arial"/>
              </a:rPr>
              <a:t>The “Incidents” in Root Cause Focus is defined as Emergency </a:t>
            </a:r>
            <a:r>
              <a:rPr lang="en-US" sz="900" dirty="0">
                <a:solidFill>
                  <a:schemeClr val="tx1"/>
                </a:solidFill>
                <a:latin typeface="+mj-lt"/>
                <a:ea typeface="ＭＳ Ｐゴシック"/>
                <a:cs typeface="Arial"/>
              </a:rPr>
              <a:t>Incidents and Security Incidents. This </a:t>
            </a:r>
            <a:r>
              <a:rPr lang="en-US" dirty="0">
                <a:latin typeface="+mj-lt"/>
                <a:ea typeface="ＭＳ Ｐゴシック"/>
                <a:cs typeface="Arial"/>
              </a:rPr>
              <a:t>KPI</a:t>
            </a:r>
            <a:r>
              <a:rPr lang="en-US" sz="900" dirty="0">
                <a:solidFill>
                  <a:schemeClr val="tx1"/>
                </a:solidFill>
                <a:latin typeface="+mj-lt"/>
                <a:ea typeface="ＭＳ Ｐゴシック"/>
                <a:cs typeface="Arial"/>
              </a:rPr>
              <a:t> measures the </a:t>
            </a:r>
            <a:r>
              <a:rPr lang="en-US" sz="900" dirty="0"/>
              <a:t>percentage of Incidents for ITS managed solutions has Root Cause Identifie</a:t>
            </a:r>
            <a:r>
              <a:rPr lang="en-US" dirty="0"/>
              <a:t>d. </a:t>
            </a:r>
            <a:r>
              <a:rPr lang="en-US" sz="900" dirty="0">
                <a:solidFill>
                  <a:schemeClr val="tx1"/>
                </a:solidFill>
                <a:latin typeface="+mj-lt"/>
                <a:ea typeface="ＭＳ Ｐゴシック"/>
                <a:cs typeface="Arial"/>
              </a:rPr>
              <a:t>ITS Managed Solutions refers to ITS Managed Services. </a:t>
            </a:r>
            <a:endParaRPr kumimoji="0" lang="en-US" sz="90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ＭＳ Ｐゴシック"/>
              <a:cs typeface="Arial"/>
            </a:endParaRPr>
          </a:p>
          <a:p>
            <a:pPr marL="0" indent="0" algn="l" fontAlgn="t">
              <a:spcAft>
                <a:spcPts val="0"/>
              </a:spcAft>
              <a:buFont typeface="Arial" panose="020B0604020202020204" pitchFamily="34" charset="0"/>
              <a:buNone/>
            </a:pPr>
            <a:endParaRPr kumimoji="0" lang="en-US" sz="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ＭＳ Ｐゴシック"/>
              <a:cs typeface="Arial"/>
            </a:endParaRPr>
          </a:p>
          <a:p>
            <a:pPr>
              <a:spcAft>
                <a:spcPts val="0"/>
              </a:spcAft>
            </a:pP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1">
              <a:buSzTx/>
            </a:pPr>
            <a:r>
              <a:rPr lang="en-US" sz="825">
                <a:solidFill>
                  <a:srgbClr val="000000"/>
                </a:solidFill>
              </a:rPr>
              <a:t>Global ServiceNow</a:t>
            </a:r>
          </a:p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466229" y="1706738"/>
            <a:ext cx="1293738" cy="138500"/>
          </a:xfrm>
        </p:spPr>
        <p:txBody>
          <a:bodyPr/>
          <a:lstStyle/>
          <a:p>
            <a:r>
              <a:rPr lang="en-US" dirty="0"/>
              <a:t>2025_1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473259" y="934904"/>
            <a:ext cx="1463039" cy="461645"/>
          </a:xfrm>
        </p:spPr>
        <p:txBody>
          <a:bodyPr/>
          <a:lstStyle/>
          <a:p>
            <a:pPr defTabSz="658416">
              <a:buClr>
                <a:srgbClr val="FFCC00"/>
              </a:buClr>
            </a:pPr>
            <a:r>
              <a:rPr lang="en-US" dirty="0"/>
              <a:t>Root Cause Identified, RCI</a:t>
            </a:r>
            <a:endParaRPr lang="en-US" b="0" dirty="0">
              <a:solidFill>
                <a:srgbClr val="00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14002" y="166890"/>
            <a:ext cx="6020048" cy="534600"/>
          </a:xfrm>
        </p:spPr>
        <p:txBody>
          <a:bodyPr vert="horz"/>
          <a:lstStyle/>
          <a:p>
            <a:r>
              <a:rPr lang="en-US" dirty="0">
                <a:solidFill>
                  <a:srgbClr val="C00000"/>
                </a:solidFill>
              </a:rPr>
              <a:t>Root Cause Focus – </a:t>
            </a:r>
            <a:r>
              <a:rPr lang="en-US" sz="1800" baseline="0" noProof="0" dirty="0">
                <a:solidFill>
                  <a:srgbClr val="C00000"/>
                </a:solidFill>
                <a:latin typeface="+mn-lt"/>
              </a:rPr>
              <a:t>Root causes identified for Emergency incidents for ITS managed solutions (1 of 2)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Daily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12"/>
              <p:cNvSpPr>
                <a:spLocks noGrp="1"/>
              </p:cNvSpPr>
              <p:nvPr>
                <p:ph type="body" sz="quarter" idx="20"/>
              </p:nvPr>
            </p:nvSpPr>
            <p:spPr>
              <a:xfrm>
                <a:off x="2117685" y="1710366"/>
                <a:ext cx="6425814" cy="306898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 smtClean="0"/>
                        <m:t>Root</m:t>
                      </m:r>
                      <m:r>
                        <m:rPr>
                          <m:nor/>
                        </m:rPr>
                        <a:rPr lang="en-US" dirty="0" smtClean="0"/>
                        <m:t> </m:t>
                      </m:r>
                      <m:r>
                        <m:rPr>
                          <m:nor/>
                        </m:rPr>
                        <a:rPr lang="en-US" dirty="0" smtClean="0"/>
                        <m:t>Cause</m:t>
                      </m:r>
                      <m:r>
                        <m:rPr>
                          <m:nor/>
                        </m:rPr>
                        <a:rPr lang="en-US" dirty="0" smtClean="0"/>
                        <m:t> </m:t>
                      </m:r>
                      <m:r>
                        <m:rPr>
                          <m:nor/>
                        </m:rPr>
                        <a:rPr lang="en-US" dirty="0" smtClean="0"/>
                        <m:t>Identified</m:t>
                      </m:r>
                      <m:r>
                        <m:rPr>
                          <m:nor/>
                        </m:rPr>
                        <a:rPr lang="en-US" b="0" i="0" dirty="0" smtClean="0"/>
                        <m:t> </m:t>
                      </m:r>
                      <m:r>
                        <m:rPr>
                          <m:nor/>
                        </m:rPr>
                        <a:rPr lang="en-US" dirty="0" smtClean="0"/>
                        <m:t>(%)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800" dirty="0"/>
                            <m:t>No</m:t>
                          </m:r>
                          <m:r>
                            <m:rPr>
                              <m:nor/>
                            </m:rPr>
                            <a:rPr lang="en-US" sz="8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800" dirty="0"/>
                            <m:t>of</m:t>
                          </m:r>
                          <m:r>
                            <m:rPr>
                              <m:nor/>
                            </m:rPr>
                            <a:rPr lang="en-US" sz="800" dirty="0"/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800" i="1" dirty="0">
                              <a:latin typeface="Cambria Math" panose="02040503050406030204" pitchFamily="18" charset="0"/>
                            </a:rPr>
                            <m:t>Incidents</m:t>
                          </m:r>
                          <m:r>
                            <m:rPr>
                              <m:nor/>
                            </m:rPr>
                            <a:rPr lang="en-US" sz="8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800" dirty="0"/>
                            <m:t>with</m:t>
                          </m:r>
                          <m:r>
                            <m:rPr>
                              <m:nor/>
                            </m:rPr>
                            <a:rPr lang="en-US" sz="8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800" dirty="0"/>
                            <m:t>root</m:t>
                          </m:r>
                          <m:r>
                            <m:rPr>
                              <m:nor/>
                            </m:rPr>
                            <a:rPr lang="en-US" sz="8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800" dirty="0"/>
                            <m:t>cause</m:t>
                          </m:r>
                          <m:r>
                            <m:rPr>
                              <m:nor/>
                            </m:rPr>
                            <a:rPr lang="en-US" sz="8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800" dirty="0"/>
                            <m:t>Identified</m:t>
                          </m:r>
                          <m:r>
                            <m:rPr>
                              <m:nor/>
                            </m:rPr>
                            <a:rPr lang="en-US" sz="800" dirty="0"/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800" dirty="0"/>
                            <m:t>Number</m:t>
                          </m:r>
                          <m:r>
                            <m:rPr>
                              <m:nor/>
                            </m:rPr>
                            <a:rPr lang="en-US" sz="8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800" dirty="0"/>
                            <m:t>of</m:t>
                          </m:r>
                          <m:r>
                            <m:rPr>
                              <m:nor/>
                            </m:rPr>
                            <a:rPr lang="en-US" sz="800" dirty="0"/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800" i="1" dirty="0">
                              <a:latin typeface="Cambria Math" panose="02040503050406030204" pitchFamily="18" charset="0"/>
                            </a:rPr>
                            <m:t>Incident</m:t>
                          </m:r>
                          <m:r>
                            <m:rPr>
                              <m:sty m:val="p"/>
                            </m:rPr>
                            <a:rPr lang="en-US" sz="800" dirty="0"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100%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 Placeholder 1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0"/>
              </p:nvPr>
            </p:nvSpPr>
            <p:spPr>
              <a:xfrm>
                <a:off x="2117685" y="1710366"/>
                <a:ext cx="6425814" cy="306898"/>
              </a:xfrm>
              <a:blipFill>
                <a:blip r:embed="rId5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Placeholder 1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Manoj Menon, ISQ</a:t>
            </a:r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>
          <a:xfrm>
            <a:off x="466229" y="3272545"/>
            <a:ext cx="1463040" cy="461644"/>
          </a:xfrm>
        </p:spPr>
        <p:txBody>
          <a:bodyPr/>
          <a:lstStyle/>
          <a:p>
            <a:r>
              <a:rPr lang="en-US" dirty="0"/>
              <a:t>Alina Tofan, Service Quality</a:t>
            </a:r>
          </a:p>
          <a:p>
            <a:r>
              <a:rPr lang="en-US" dirty="0"/>
              <a:t>Edward Yin, Service Quality</a:t>
            </a:r>
          </a:p>
          <a:p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5CD9882F-7B4C-1700-B87A-1F4FE3A7292D}"/>
              </a:ext>
            </a:extLst>
          </p:cNvPr>
          <p:cNvSpPr txBox="1">
            <a:spLocks/>
          </p:cNvSpPr>
          <p:nvPr/>
        </p:nvSpPr>
        <p:spPr>
          <a:xfrm>
            <a:off x="6103192" y="2135716"/>
            <a:ext cx="2659650" cy="18793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FFC000"/>
              </a:buClr>
              <a:buFont typeface="Arial" panose="020B0604020202020204" pitchFamily="34" charset="0"/>
              <a:buChar char="■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FFC000"/>
              </a:buClr>
              <a:buFont typeface="Symbol" panose="05050102010706020507" pitchFamily="18" charset="2"/>
              <a:buChar char="-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FFC000"/>
              </a:buClr>
              <a:buFont typeface="Symbol" panose="05050102010706020507" pitchFamily="18" charset="2"/>
              <a:buChar char="-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rgbClr val="FFC000"/>
              </a:buClr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" indent="-18000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+mj-lt"/>
              <a:buAutoNum type="arabi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58738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800" b="1" dirty="0"/>
              <a:t>For Incident Type = Incident </a:t>
            </a:r>
          </a:p>
          <a:p>
            <a:pPr marL="285750" indent="-1143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800" dirty="0"/>
              <a:t>Reporting Level = Emergency E1, E4</a:t>
            </a:r>
          </a:p>
          <a:p>
            <a:pPr marL="285750" lvl="2" indent="-1143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800" dirty="0"/>
              <a:t>Incident Status is Resolved, Informed or Closed</a:t>
            </a:r>
          </a:p>
          <a:p>
            <a:pPr marL="285750" indent="-1143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800" dirty="0">
                <a:ea typeface="SimSun" panose="02010600030101010101" pitchFamily="2" charset="-122"/>
              </a:rPr>
              <a:t>Exclude ticket with </a:t>
            </a:r>
            <a:r>
              <a:rPr lang="en-US" sz="800" dirty="0"/>
              <a:t>Closure code = Not Resolved (Duplicate), Not Resolved (No Response from User), </a:t>
            </a:r>
            <a:r>
              <a:rPr lang="en-US" sz="800" dirty="0">
                <a:solidFill>
                  <a:srgbClr val="252423"/>
                </a:solidFill>
              </a:rPr>
              <a:t>Not Resolved (Conflicts with Standards and Policy), </a:t>
            </a:r>
            <a:r>
              <a:rPr lang="en-US" sz="800" dirty="0"/>
              <a:t>Not Resolved (Withdrawn by User)</a:t>
            </a:r>
          </a:p>
          <a:p>
            <a:pPr marL="114300" indent="-58738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800" b="1" dirty="0"/>
          </a:p>
          <a:p>
            <a:pPr marL="114300" indent="-58738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800" b="1" dirty="0"/>
              <a:t>For Incident Type = Security Incident </a:t>
            </a:r>
          </a:p>
          <a:p>
            <a:pPr marL="285750" indent="-1143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800" dirty="0">
                <a:solidFill>
                  <a:srgbClr val="000000"/>
                </a:solidFill>
              </a:rPr>
              <a:t>Severity Class = Very High and High</a:t>
            </a:r>
          </a:p>
          <a:p>
            <a:pPr marL="285750" indent="-1143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800" dirty="0">
                <a:solidFill>
                  <a:srgbClr val="000000"/>
                </a:solidFill>
              </a:rPr>
              <a:t>Entry vector IS NOT "False Positive“</a:t>
            </a:r>
          </a:p>
          <a:p>
            <a:pPr marL="285750" indent="-1143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800" dirty="0">
                <a:solidFill>
                  <a:srgbClr val="000000"/>
                </a:solidFill>
              </a:rPr>
              <a:t>Sensitivity IS NOT highly sensitive (ticket contents to follow sensitivity rule)</a:t>
            </a:r>
          </a:p>
          <a:p>
            <a:pPr marL="285750" indent="-11430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800" dirty="0"/>
              <a:t>Closure Code contains ‘Resolved’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3">
                <a:extLst>
                  <a:ext uri="{FF2B5EF4-FFF2-40B4-BE49-F238E27FC236}">
                    <a16:creationId xmlns:a16="http://schemas.microsoft.com/office/drawing/2014/main" id="{3A8CEE8F-5CD9-745F-73D5-D9D8A20345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2975" y="2062372"/>
                <a:ext cx="3973542" cy="1970896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6858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500"/>
                  </a:spcAft>
                  <a:buFont typeface="Arial" panose="020B0604020202020204" pitchFamily="34" charset="0"/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48205" indent="-146990" algn="l" defTabSz="6858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500"/>
                  </a:spcAft>
                  <a:buClr>
                    <a:srgbClr val="FFC000"/>
                  </a:buClr>
                  <a:buFont typeface="Arial" panose="020B0604020202020204" pitchFamily="34" charset="0"/>
                  <a:buChar char="■"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0000" indent="-180000" algn="l" defTabSz="6858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500"/>
                  </a:spcAft>
                  <a:buClr>
                    <a:srgbClr val="FFC000"/>
                  </a:buClr>
                  <a:buFont typeface="Symbol" panose="05050102010706020507" pitchFamily="18" charset="2"/>
                  <a:buChar char="-"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40000" indent="-180000" algn="l" defTabSz="6858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500"/>
                  </a:spcAft>
                  <a:buClr>
                    <a:srgbClr val="FFC000"/>
                  </a:buClr>
                  <a:buFont typeface="Symbol" panose="05050102010706020507" pitchFamily="18" charset="2"/>
                  <a:buChar char="-"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0" indent="0" algn="l" defTabSz="6858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500"/>
                  </a:spcAft>
                  <a:buClr>
                    <a:srgbClr val="FFC000"/>
                  </a:buClr>
                  <a:buFont typeface="Arial" panose="020B0604020202020204" pitchFamily="34" charset="0"/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6858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None/>
                  <a:defRPr sz="135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0000" indent="-180000" algn="l" defTabSz="6858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500"/>
                  </a:spcAft>
                  <a:buClr>
                    <a:schemeClr val="accent4"/>
                  </a:buClr>
                  <a:buFont typeface="+mj-lt"/>
                  <a:buAutoNum type="arabicPeriod"/>
                  <a:defRPr sz="7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defTabSz="684610">
                  <a:lnSpc>
                    <a:spcPct val="100000"/>
                  </a:lnSpc>
                  <a:spcAft>
                    <a:spcPts val="0"/>
                  </a:spcAft>
                  <a:buClr>
                    <a:srgbClr val="FFCC00"/>
                  </a:buClr>
                  <a:buFont typeface="Arial" panose="020B0604020202020204" pitchFamily="34" charset="0"/>
                  <a:buNone/>
                </a:pPr>
                <a:r>
                  <a:rPr lang="en-US" sz="800" b="1" dirty="0"/>
                  <a:t> [Number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800" b="1" dirty="0" smtClean="0"/>
                      <m:t>Incidents</m:t>
                    </m:r>
                  </m:oMath>
                </a14:m>
                <a:r>
                  <a:rPr lang="en-US" sz="800" b="1" dirty="0"/>
                  <a:t>] is defined as</a:t>
                </a:r>
              </a:p>
              <a:p>
                <a:pPr marL="114300" indent="-58738">
                  <a:lnSpc>
                    <a:spcPct val="100000"/>
                  </a:lnSpc>
                  <a:spcAft>
                    <a:spcPts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800" b="1" dirty="0"/>
                  <a:t>For Incident Type = Incident &amp; Security Incident</a:t>
                </a:r>
              </a:p>
              <a:p>
                <a:pPr marL="396875" indent="-171450">
                  <a:lnSpc>
                    <a:spcPct val="100000"/>
                  </a:lnSpc>
                  <a:spcAft>
                    <a:spcPts val="0"/>
                  </a:spcAft>
                  <a:buClr>
                    <a:schemeClr val="tx1"/>
                  </a:buClr>
                  <a:buFont typeface="Courier New" panose="02070309020205020404" pitchFamily="49" charset="0"/>
                  <a:buChar char="o"/>
                </a:pPr>
                <a:r>
                  <a:rPr lang="en-US" sz="800" dirty="0"/>
                  <a:t>Reporting period is based on Incident Resolved Date</a:t>
                </a:r>
              </a:p>
              <a:p>
                <a:pPr marL="396875" indent="-171450">
                  <a:lnSpc>
                    <a:spcPct val="100000"/>
                  </a:lnSpc>
                  <a:spcAft>
                    <a:spcPts val="0"/>
                  </a:spcAft>
                  <a:buClr>
                    <a:schemeClr val="tx1"/>
                  </a:buClr>
                  <a:buFont typeface="Courier New" panose="02070309020205020404" pitchFamily="49" charset="0"/>
                  <a:buChar char="o"/>
                </a:pPr>
                <a:r>
                  <a:rPr lang="en-US" sz="800" dirty="0"/>
                  <a:t>[Resolved by ITS] Assign Group Company Search Code ‘SER-ITS%’ or ‘SUP-ITS%’ </a:t>
                </a:r>
              </a:p>
              <a:p>
                <a:pPr marL="396875" indent="-171450">
                  <a:lnSpc>
                    <a:spcPct val="100000"/>
                  </a:lnSpc>
                  <a:spcAft>
                    <a:spcPts val="0"/>
                  </a:spcAft>
                  <a:buClr>
                    <a:schemeClr val="tx1"/>
                  </a:buClr>
                  <a:buFont typeface="Courier New" panose="02070309020205020404" pitchFamily="49" charset="0"/>
                  <a:buChar char="o"/>
                </a:pPr>
                <a:r>
                  <a:rPr lang="en-US" sz="800" dirty="0"/>
                  <a:t>[Impacted Service is Managed by ITS] Impacted Service </a:t>
                </a:r>
                <a:r>
                  <a:rPr lang="en-US" sz="800" dirty="0" err="1"/>
                  <a:t>Service</a:t>
                </a:r>
                <a:r>
                  <a:rPr lang="en-US" sz="800" dirty="0"/>
                  <a:t> Owner Company Search Code ‘SER-ITS%’</a:t>
                </a:r>
              </a:p>
              <a:p>
                <a:pPr marL="396875" indent="-171450">
                  <a:lnSpc>
                    <a:spcPct val="100000"/>
                  </a:lnSpc>
                  <a:spcAft>
                    <a:spcPts val="0"/>
                  </a:spcAft>
                  <a:buClr>
                    <a:schemeClr val="tx1"/>
                  </a:buClr>
                  <a:buFont typeface="Courier New" panose="02070309020205020404" pitchFamily="49" charset="0"/>
                  <a:buChar char="o"/>
                </a:pPr>
                <a:r>
                  <a:rPr lang="en-US" sz="800" dirty="0"/>
                  <a:t>[Exclude VIP service] Impacted service is NOT ('ITS HEAD OFFICE SUPPORT BONN', 'VIP SERVICES PLATINUM GOLD’)</a:t>
                </a:r>
              </a:p>
              <a:p>
                <a:pPr marL="396875" indent="-171450">
                  <a:lnSpc>
                    <a:spcPct val="100000"/>
                  </a:lnSpc>
                  <a:spcAft>
                    <a:spcPts val="0"/>
                  </a:spcAft>
                  <a:buClr>
                    <a:schemeClr val="tx1"/>
                  </a:buClr>
                  <a:buFont typeface="Courier New" panose="02070309020205020404" pitchFamily="49" charset="0"/>
                  <a:buChar char="o"/>
                </a:pPr>
                <a:r>
                  <a:rPr lang="en-US" sz="800" dirty="0">
                    <a:ea typeface="SimSun" panose="02010600030101010101" pitchFamily="2" charset="-122"/>
                  </a:rPr>
                  <a:t>[Exclude XTO] Assigned Group Search Code DOES NOT BEGIN with "Global-</a:t>
                </a:r>
                <a:r>
                  <a:rPr lang="en-US" sz="800" dirty="0" err="1">
                    <a:ea typeface="SimSun" panose="02010600030101010101" pitchFamily="2" charset="-122"/>
                  </a:rPr>
                  <a:t>Telecom.provider</a:t>
                </a:r>
                <a:r>
                  <a:rPr lang="en-US" sz="800" dirty="0">
                    <a:ea typeface="SimSun" panose="02010600030101010101" pitchFamily="2" charset="-122"/>
                  </a:rPr>
                  <a:t>“</a:t>
                </a:r>
              </a:p>
              <a:p>
                <a:pPr marL="396875" indent="-171450">
                  <a:lnSpc>
                    <a:spcPct val="100000"/>
                  </a:lnSpc>
                  <a:spcAft>
                    <a:spcPts val="0"/>
                  </a:spcAft>
                  <a:buClr>
                    <a:schemeClr val="tx1"/>
                  </a:buClr>
                  <a:buFont typeface="Courier New" panose="02070309020205020404" pitchFamily="49" charset="0"/>
                  <a:buChar char="o"/>
                </a:pPr>
                <a:r>
                  <a:rPr lang="en-US" sz="800" dirty="0">
                    <a:ea typeface="SimSun" panose="02010600030101010101" pitchFamily="2" charset="-122"/>
                  </a:rPr>
                  <a:t>[Exclude Service Desk Workgroup that manages assignment to BU’s vendor] Assigned Group Search Code DOES NOT CONTAIN “-</a:t>
                </a:r>
                <a:r>
                  <a:rPr lang="en-US" sz="800" dirty="0">
                    <a:ea typeface="DengXian" panose="02010600030101010101" pitchFamily="2" charset="-122"/>
                  </a:rPr>
                  <a:t>SERVICE-DESK-VENDORS</a:t>
                </a:r>
                <a:r>
                  <a:rPr lang="en-US" sz="800" b="1" dirty="0">
                    <a:ea typeface="DengXian" panose="02010600030101010101" pitchFamily="2" charset="-122"/>
                  </a:rPr>
                  <a:t>” or “.</a:t>
                </a:r>
                <a:r>
                  <a:rPr lang="en-US" sz="800" dirty="0">
                    <a:ea typeface="DengXian" panose="02010600030101010101" pitchFamily="2" charset="-122"/>
                  </a:rPr>
                  <a:t>SERVICEDESK.VENDORS</a:t>
                </a:r>
                <a:r>
                  <a:rPr lang="en-US" sz="800" b="1" dirty="0">
                    <a:ea typeface="DengXian" panose="02010600030101010101" pitchFamily="2" charset="-122"/>
                  </a:rPr>
                  <a:t>”</a:t>
                </a:r>
                <a:endParaRPr lang="en-US" sz="800" dirty="0">
                  <a:ea typeface="SimSun" panose="02010600030101010101" pitchFamily="2" charset="-122"/>
                </a:endParaRPr>
              </a:p>
              <a:p>
                <a:pPr marL="396875" indent="-171450">
                  <a:lnSpc>
                    <a:spcPct val="100000"/>
                  </a:lnSpc>
                  <a:spcAft>
                    <a:spcPts val="0"/>
                  </a:spcAft>
                  <a:buClr>
                    <a:schemeClr val="tx1"/>
                  </a:buClr>
                  <a:buFont typeface="Courier New" panose="02070309020205020404" pitchFamily="49" charset="0"/>
                  <a:buChar char="o"/>
                </a:pPr>
                <a:r>
                  <a:rPr lang="en-US" sz="800" dirty="0">
                    <a:ea typeface="SimSun" panose="02010600030101010101" pitchFamily="2" charset="-122"/>
                  </a:rPr>
                  <a:t>[Exclude Child Tickets] Parent ticket is NOT BLANK  AND Incident Type IN (‘Incident, Security Incident’) AND (Parent Incident Reporting Level IS NOT (E1, E4)]</a:t>
                </a:r>
              </a:p>
              <a:p>
                <a:pPr marL="55562">
                  <a:lnSpc>
                    <a:spcPct val="100000"/>
                  </a:lnSpc>
                  <a:spcAft>
                    <a:spcPts val="0"/>
                  </a:spcAft>
                  <a:buClr>
                    <a:schemeClr val="tx1"/>
                  </a:buClr>
                </a:pPr>
                <a:endParaRPr lang="en-US" sz="800" dirty="0"/>
              </a:p>
            </p:txBody>
          </p:sp>
        </mc:Choice>
        <mc:Fallback xmlns="">
          <p:sp>
            <p:nvSpPr>
              <p:cNvPr id="16" name="Text Placeholder 3">
                <a:extLst>
                  <a:ext uri="{FF2B5EF4-FFF2-40B4-BE49-F238E27FC236}">
                    <a16:creationId xmlns:a16="http://schemas.microsoft.com/office/drawing/2014/main" id="{3A8CEE8F-5CD9-745F-73D5-D9D8A2034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975" y="2062372"/>
                <a:ext cx="3973542" cy="1970896"/>
              </a:xfrm>
              <a:prstGeom prst="rect">
                <a:avLst/>
              </a:prstGeom>
              <a:blipFill>
                <a:blip r:embed="rId6"/>
                <a:stretch>
                  <a:fillRect l="-1074" t="-1543" r="-1534" b="-2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C5E7276A-AE7C-A026-E28B-C48D6CF23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097632"/>
              </p:ext>
            </p:extLst>
          </p:nvPr>
        </p:nvGraphicFramePr>
        <p:xfrm>
          <a:off x="7230544" y="180435"/>
          <a:ext cx="1532298" cy="475488"/>
        </p:xfrm>
        <a:graphic>
          <a:graphicData uri="http://schemas.openxmlformats.org/drawingml/2006/table">
            <a:tbl>
              <a:tblPr firstRow="1" bandRow="1">
                <a:tableStyleId>{09810C2D-2C2F-4581-8AFF-CD78C2D722A2}</a:tableStyleId>
              </a:tblPr>
              <a:tblGrid>
                <a:gridCol w="510766">
                  <a:extLst>
                    <a:ext uri="{9D8B030D-6E8A-4147-A177-3AD203B41FA5}">
                      <a16:colId xmlns:a16="http://schemas.microsoft.com/office/drawing/2014/main" val="925395706"/>
                    </a:ext>
                  </a:extLst>
                </a:gridCol>
                <a:gridCol w="510766">
                  <a:extLst>
                    <a:ext uri="{9D8B030D-6E8A-4147-A177-3AD203B41FA5}">
                      <a16:colId xmlns:a16="http://schemas.microsoft.com/office/drawing/2014/main" val="2942664720"/>
                    </a:ext>
                  </a:extLst>
                </a:gridCol>
                <a:gridCol w="510766">
                  <a:extLst>
                    <a:ext uri="{9D8B030D-6E8A-4147-A177-3AD203B41FA5}">
                      <a16:colId xmlns:a16="http://schemas.microsoft.com/office/drawing/2014/main" val="915332475"/>
                    </a:ext>
                  </a:extLst>
                </a:gridCol>
              </a:tblGrid>
              <a:tr h="171725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E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T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M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91404"/>
                  </a:ext>
                </a:extLst>
              </a:tr>
              <a:tr h="171725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87.3%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88.3%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89.3%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409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123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71A45AF-8D09-2C00-EB86-B2CBDE6D89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1A45AF-8D09-2C00-EB86-B2CBDE6D89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037619" y="960326"/>
            <a:ext cx="6725223" cy="534600"/>
          </a:xfrm>
        </p:spPr>
        <p:txBody>
          <a:bodyPr/>
          <a:lstStyle/>
          <a:p>
            <a:pPr fontAlgn="t">
              <a:spcAft>
                <a:spcPts val="0"/>
              </a:spcAft>
            </a:pPr>
            <a:r>
              <a:rPr kumimoji="0" lang="en-US" sz="9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/>
                <a:cs typeface="Arial"/>
              </a:rPr>
              <a:t>Measures IT Services’ ability to find root cause(s) for incidents and eliminate them. </a:t>
            </a:r>
            <a:r>
              <a:rPr kumimoji="0" lang="en-US" sz="90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/>
                <a:cs typeface="Arial"/>
              </a:rPr>
              <a:t>The “Incidents” in Root Cause Focus is defined as Emergency </a:t>
            </a:r>
            <a:r>
              <a:rPr lang="en-US" sz="900" dirty="0">
                <a:solidFill>
                  <a:schemeClr val="tx1"/>
                </a:solidFill>
                <a:latin typeface="+mj-lt"/>
                <a:ea typeface="ＭＳ Ｐゴシック"/>
                <a:cs typeface="Arial"/>
              </a:rPr>
              <a:t>Incidents and Security Incidents. This </a:t>
            </a:r>
            <a:r>
              <a:rPr lang="en-US" dirty="0">
                <a:latin typeface="+mj-lt"/>
                <a:ea typeface="ＭＳ Ｐゴシック"/>
                <a:cs typeface="Arial"/>
              </a:rPr>
              <a:t>KPI</a:t>
            </a:r>
            <a:r>
              <a:rPr lang="en-US" sz="900" dirty="0">
                <a:solidFill>
                  <a:schemeClr val="tx1"/>
                </a:solidFill>
                <a:latin typeface="+mj-lt"/>
                <a:ea typeface="ＭＳ Ｐゴシック"/>
                <a:cs typeface="Arial"/>
              </a:rPr>
              <a:t> measures the </a:t>
            </a:r>
            <a:r>
              <a:rPr lang="en-US" sz="900" dirty="0"/>
              <a:t>percentage of Incidents for ITS managed solutions has Root Cause Identifie</a:t>
            </a:r>
            <a:r>
              <a:rPr lang="en-US" dirty="0"/>
              <a:t>d. </a:t>
            </a:r>
            <a:r>
              <a:rPr lang="en-US" sz="900" dirty="0">
                <a:solidFill>
                  <a:schemeClr val="tx1"/>
                </a:solidFill>
                <a:latin typeface="+mj-lt"/>
                <a:ea typeface="ＭＳ Ｐゴシック"/>
                <a:cs typeface="Arial"/>
              </a:rPr>
              <a:t>ITS Managed Solutions refers to ITS Managed Services. </a:t>
            </a:r>
            <a:endParaRPr kumimoji="0" lang="en-US" sz="90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ＭＳ Ｐゴシック"/>
              <a:cs typeface="Arial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1">
              <a:buSzTx/>
            </a:pPr>
            <a:r>
              <a:rPr lang="en-US" sz="825">
                <a:solidFill>
                  <a:srgbClr val="000000"/>
                </a:solidFill>
              </a:rPr>
              <a:t>Global ServiceNow</a:t>
            </a:r>
          </a:p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466229" y="1706738"/>
            <a:ext cx="1293738" cy="138500"/>
          </a:xfrm>
        </p:spPr>
        <p:txBody>
          <a:bodyPr/>
          <a:lstStyle/>
          <a:p>
            <a:r>
              <a:rPr lang="en-US" dirty="0"/>
              <a:t>2025_1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473259" y="934905"/>
            <a:ext cx="1456009" cy="534600"/>
          </a:xfrm>
        </p:spPr>
        <p:txBody>
          <a:bodyPr/>
          <a:lstStyle/>
          <a:p>
            <a:pPr defTabSz="658416">
              <a:buClr>
                <a:srgbClr val="FFCC00"/>
              </a:buClr>
            </a:pPr>
            <a:r>
              <a:rPr lang="en-US" dirty="0"/>
              <a:t>Root Cause Identified, RCI</a:t>
            </a:r>
            <a:endParaRPr lang="en-US" b="0" dirty="0">
              <a:solidFill>
                <a:srgbClr val="00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14002" y="166890"/>
            <a:ext cx="6227430" cy="534600"/>
          </a:xfrm>
        </p:spPr>
        <p:txBody>
          <a:bodyPr vert="horz"/>
          <a:lstStyle/>
          <a:p>
            <a:r>
              <a:rPr lang="en-US" dirty="0">
                <a:solidFill>
                  <a:srgbClr val="C00000"/>
                </a:solidFill>
              </a:rPr>
              <a:t>Root Cause Focus – </a:t>
            </a:r>
            <a:r>
              <a:rPr lang="en-US" sz="1800" baseline="0" noProof="0" dirty="0">
                <a:solidFill>
                  <a:srgbClr val="C00000"/>
                </a:solidFill>
                <a:latin typeface="+mn-lt"/>
              </a:rPr>
              <a:t>Root causes identified for Emergency incidents for ITS managed solutions (2 of 2)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Daily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Manoj Menon, ISQ</a:t>
            </a:r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>
          <a:xfrm>
            <a:off x="466229" y="3272545"/>
            <a:ext cx="1463040" cy="461644"/>
          </a:xfrm>
        </p:spPr>
        <p:txBody>
          <a:bodyPr/>
          <a:lstStyle/>
          <a:p>
            <a:r>
              <a:rPr lang="en-US" dirty="0"/>
              <a:t>Alina Tofan, Service Quality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ED366-AD66-4041-B289-E377354120A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032975" y="2008605"/>
            <a:ext cx="6787174" cy="2083335"/>
          </a:xfrm>
        </p:spPr>
        <p:txBody>
          <a:bodyPr lIns="0" tIns="0"/>
          <a:lstStyle/>
          <a:p>
            <a:pPr marL="0" lvl="1" indent="0" defTabSz="684610">
              <a:lnSpc>
                <a:spcPct val="100000"/>
              </a:lnSpc>
              <a:spcAft>
                <a:spcPts val="0"/>
              </a:spcAft>
              <a:buClr>
                <a:srgbClr val="FFCC00"/>
              </a:buClr>
              <a:buNone/>
            </a:pPr>
            <a:r>
              <a:rPr lang="en-US" sz="700" b="1" dirty="0"/>
              <a:t> [No of Incidents with Root Cause Identified] </a:t>
            </a:r>
            <a:r>
              <a:rPr lang="en-US" sz="700" dirty="0"/>
              <a:t>is defined as</a:t>
            </a:r>
          </a:p>
          <a:p>
            <a:pPr marL="171450" lvl="1" indent="-114300" defTabSz="684610">
              <a:lnSpc>
                <a:spcPct val="100000"/>
              </a:lnSpc>
              <a:spcAft>
                <a:spcPts val="0"/>
              </a:spcAft>
              <a:buClrTx/>
            </a:pPr>
            <a:r>
              <a:rPr lang="en-US" sz="700" b="1" dirty="0"/>
              <a:t>For Incident Type = Incident</a:t>
            </a:r>
            <a:endParaRPr lang="en-US" sz="700" dirty="0"/>
          </a:p>
          <a:p>
            <a:pPr marL="400050" indent="-166688">
              <a:lnSpc>
                <a:spcPct val="100000"/>
              </a:lnSpc>
              <a:spcAft>
                <a:spcPts val="200"/>
              </a:spcAft>
              <a:buClr>
                <a:schemeClr val="tx1"/>
              </a:buClr>
              <a:buFont typeface="+mj-lt"/>
              <a:buAutoNum type="romanLcPeriod"/>
            </a:pPr>
            <a:r>
              <a:rPr lang="en-US" sz="700" dirty="0">
                <a:highlight>
                  <a:srgbClr val="FFFF00"/>
                </a:highlight>
              </a:rPr>
              <a:t>Incident closure code  =  “Resolved ( Permanent Fix) “ AND QC Tags[Ticket Quality Indicator] = ‘ %Pass’ </a:t>
            </a:r>
          </a:p>
          <a:p>
            <a:pPr marL="400050" indent="-166688">
              <a:lnSpc>
                <a:spcPct val="100000"/>
              </a:lnSpc>
              <a:spcAft>
                <a:spcPts val="200"/>
              </a:spcAft>
              <a:buClr>
                <a:schemeClr val="tx1"/>
              </a:buClr>
              <a:buFont typeface="+mj-lt"/>
              <a:buAutoNum type="romanLcPeriod"/>
            </a:pPr>
            <a:r>
              <a:rPr lang="en-US" sz="700" dirty="0">
                <a:highlight>
                  <a:srgbClr val="FFFF00"/>
                </a:highlight>
              </a:rPr>
              <a:t>Incident closure code  =  “Resolved ( Permanent Fix) “ AND QC Tags [Ticket Quality Indicator] = ‘ %Fail’ AND ‘No of Fields updated after 2 hours resolution’ IS NOT NULL </a:t>
            </a:r>
          </a:p>
          <a:p>
            <a:pPr marL="400050" indent="-166688">
              <a:lnSpc>
                <a:spcPct val="100000"/>
              </a:lnSpc>
              <a:spcAft>
                <a:spcPts val="200"/>
              </a:spcAft>
              <a:buClr>
                <a:schemeClr val="tx1"/>
              </a:buClr>
              <a:buFont typeface="+mj-lt"/>
              <a:buAutoNum type="romanLcPeriod"/>
            </a:pPr>
            <a:r>
              <a:rPr lang="en-US" sz="700" dirty="0"/>
              <a:t>Exclude Problem Tickets with Closure Code = “Not Solved / Rejected” </a:t>
            </a:r>
          </a:p>
          <a:p>
            <a:pPr marL="400050" indent="-166688">
              <a:lnSpc>
                <a:spcPct val="100000"/>
              </a:lnSpc>
              <a:spcAft>
                <a:spcPts val="200"/>
              </a:spcAft>
              <a:buClr>
                <a:schemeClr val="tx1"/>
              </a:buClr>
              <a:buFont typeface="+mj-lt"/>
              <a:buAutoNum type="romanLcPeriod"/>
            </a:pPr>
            <a:r>
              <a:rPr lang="en-US" sz="700" dirty="0"/>
              <a:t>Incident with Linked Problem and Problem State = </a:t>
            </a:r>
            <a:r>
              <a:rPr lang="en-US" sz="700" dirty="0">
                <a:ea typeface="SimSun" panose="02010600030101010101" pitchFamily="2" charset="-122"/>
              </a:rPr>
              <a:t>Solution Investigation, Solution Acceptance, Solution Development, Solution Implementation, Solution Validation OR</a:t>
            </a:r>
          </a:p>
          <a:p>
            <a:pPr marL="400050" indent="-166688">
              <a:lnSpc>
                <a:spcPct val="100000"/>
              </a:lnSpc>
              <a:spcAft>
                <a:spcPts val="200"/>
              </a:spcAft>
              <a:buClr>
                <a:schemeClr val="tx1"/>
              </a:buClr>
              <a:buFont typeface="+mj-lt"/>
              <a:buAutoNum type="romanLcPeriod"/>
            </a:pPr>
            <a:r>
              <a:rPr lang="en-US" sz="700" dirty="0"/>
              <a:t>Incident with Linked Problem and Problem State =</a:t>
            </a:r>
            <a:r>
              <a:rPr lang="en-US" sz="700" dirty="0">
                <a:ea typeface="SimSun" panose="02010600030101010101" pitchFamily="2" charset="-122"/>
              </a:rPr>
              <a:t> Closed AND [ Problem Closure Code IN (‘Solved / No </a:t>
            </a:r>
            <a:r>
              <a:rPr lang="en-US" sz="700" dirty="0" err="1">
                <a:ea typeface="SimSun" panose="02010600030101010101" pitchFamily="2" charset="-122"/>
              </a:rPr>
              <a:t>RfC</a:t>
            </a:r>
            <a:r>
              <a:rPr lang="en-US" sz="700" dirty="0">
                <a:ea typeface="SimSun" panose="02010600030101010101" pitchFamily="2" charset="-122"/>
              </a:rPr>
              <a:t> Needed’, ’</a:t>
            </a:r>
            <a:r>
              <a:rPr lang="en-US" sz="700" u="none" strike="noStrike" dirty="0">
                <a:effectLst/>
              </a:rPr>
              <a:t> Solved / </a:t>
            </a:r>
            <a:r>
              <a:rPr lang="en-US" sz="700" u="none" strike="noStrike" dirty="0" err="1">
                <a:effectLst/>
              </a:rPr>
              <a:t>RfC</a:t>
            </a:r>
            <a:r>
              <a:rPr lang="en-US" sz="700" u="none" strike="noStrike" dirty="0">
                <a:effectLst/>
              </a:rPr>
              <a:t> Implemented’,</a:t>
            </a:r>
            <a:r>
              <a:rPr lang="en-US" sz="700" dirty="0">
                <a:ea typeface="SimSun" panose="02010600030101010101" pitchFamily="2" charset="-122"/>
              </a:rPr>
              <a:t>’</a:t>
            </a:r>
            <a:r>
              <a:rPr lang="en-US" sz="700" u="none" strike="noStrike" dirty="0">
                <a:effectLst/>
              </a:rPr>
              <a:t> Not Solved / Unable to Solve’</a:t>
            </a:r>
            <a:r>
              <a:rPr lang="en-US" sz="700" dirty="0">
                <a:ea typeface="SimSun" panose="02010600030101010101" pitchFamily="2" charset="-122"/>
              </a:rPr>
              <a:t>,</a:t>
            </a:r>
            <a:r>
              <a:rPr lang="en-US" sz="700" u="none" strike="noStrike" dirty="0">
                <a:effectLst/>
              </a:rPr>
              <a:t> ‘Not Solved / Workaround’)</a:t>
            </a:r>
          </a:p>
          <a:p>
            <a:pPr marL="233362">
              <a:lnSpc>
                <a:spcPct val="100000"/>
              </a:lnSpc>
              <a:spcAft>
                <a:spcPts val="200"/>
              </a:spcAft>
              <a:buClr>
                <a:schemeClr val="tx1"/>
              </a:buClr>
            </a:pPr>
            <a:endParaRPr lang="en-US" sz="700" dirty="0"/>
          </a:p>
          <a:p>
            <a:pPr marL="396875" lvl="1" indent="-17145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7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if an Incident is related to only 1 PRB and the PRB </a:t>
            </a:r>
            <a:r>
              <a:rPr lang="en-US" sz="700" dirty="0"/>
              <a:t>Closure Code is  (</a:t>
            </a:r>
            <a:r>
              <a:rPr lang="en-US" sz="700" dirty="0">
                <a:effectLst/>
                <a:ea typeface="DengXian" panose="02010600030101010101" pitchFamily="2" charset="-122"/>
              </a:rPr>
              <a:t>Not Solved / Rejected) </a:t>
            </a:r>
            <a:r>
              <a:rPr lang="en-US" sz="7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, then it means the Incident has no valid Problem and does not meet the KPI.</a:t>
            </a:r>
            <a:endParaRPr lang="en-US" sz="700" dirty="0">
              <a:effectLst/>
              <a:ea typeface="DengXian" panose="02010600030101010101" pitchFamily="2" charset="-122"/>
            </a:endParaRPr>
          </a:p>
          <a:p>
            <a:pPr marL="396875" lvl="1" indent="-17145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700" dirty="0"/>
              <a:t>If an incident is related to multiple problem tickets, </a:t>
            </a:r>
          </a:p>
          <a:p>
            <a:pPr marL="569913" indent="-117475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</a:pPr>
            <a:r>
              <a:rPr lang="en-US" sz="700" dirty="0"/>
              <a:t>(a) Problems with Closure Code (</a:t>
            </a:r>
            <a:r>
              <a:rPr lang="en-US" sz="700" dirty="0">
                <a:effectLst/>
                <a:ea typeface="DengXian" panose="02010600030101010101" pitchFamily="2" charset="-122"/>
              </a:rPr>
              <a:t>Not Solved / Rejected) should be excluded and NOT use to determine fulfillment of the KPI</a:t>
            </a:r>
          </a:p>
          <a:p>
            <a:pPr marL="569913" indent="-117475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</a:pPr>
            <a:r>
              <a:rPr lang="en-US" sz="700" dirty="0">
                <a:highlight>
                  <a:srgbClr val="FFFF00"/>
                </a:highlight>
              </a:rPr>
              <a:t>(b) Only the first linked problem ticket is used to determine KPI fulfillment.  [Different from 2024 Definition]</a:t>
            </a:r>
          </a:p>
          <a:p>
            <a:pPr marL="569913" indent="-117475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</a:pPr>
            <a:endParaRPr lang="en-US" sz="700" dirty="0"/>
          </a:p>
          <a:p>
            <a:pPr marL="171450" indent="-114300">
              <a:lnSpc>
                <a:spcPct val="100000"/>
              </a:lnSpc>
              <a:spcAft>
                <a:spcPts val="2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700" b="1" dirty="0"/>
              <a:t>Incident Type = Security Incident </a:t>
            </a:r>
          </a:p>
          <a:p>
            <a:pPr marL="319655" lvl="1" indent="-114300">
              <a:lnSpc>
                <a:spcPct val="100000"/>
              </a:lnSpc>
              <a:spcAft>
                <a:spcPts val="20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700" dirty="0"/>
              <a:t>Ticket is Tag with </a:t>
            </a:r>
            <a:r>
              <a:rPr lang="en-US" sz="700" i="0" u="none" strike="noStrike" dirty="0">
                <a:solidFill>
                  <a:srgbClr val="000000"/>
                </a:solidFill>
                <a:effectLst/>
              </a:rPr>
              <a:t>#SIVRC OR #SIVS OR #SIAP</a:t>
            </a:r>
            <a:endParaRPr lang="en-US" sz="700" dirty="0">
              <a:highlight>
                <a:srgbClr val="FFFF00"/>
              </a:highlight>
            </a:endParaRPr>
          </a:p>
          <a:p>
            <a:pPr marL="17145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</a:pPr>
            <a:endParaRPr lang="en-US" sz="700" dirty="0"/>
          </a:p>
          <a:p>
            <a:pPr marL="171450">
              <a:lnSpc>
                <a:spcPct val="100000"/>
              </a:lnSpc>
              <a:spcAft>
                <a:spcPts val="0"/>
              </a:spcAft>
              <a:buClr>
                <a:schemeClr val="tx1"/>
              </a:buClr>
            </a:pPr>
            <a:endParaRPr lang="en-US" sz="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58C03366-A659-9717-B05E-F3CA196ED8CA}"/>
                  </a:ext>
                </a:extLst>
              </p:cNvPr>
              <p:cNvSpPr>
                <a:spLocks noGrp="1"/>
              </p:cNvSpPr>
              <p:nvPr>
                <p:ph type="body" sz="quarter" idx="20"/>
              </p:nvPr>
            </p:nvSpPr>
            <p:spPr>
              <a:xfrm>
                <a:off x="2054761" y="1731606"/>
                <a:ext cx="6367468" cy="276999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 smtClean="0"/>
                        <m:t>Root</m:t>
                      </m:r>
                      <m:r>
                        <m:rPr>
                          <m:nor/>
                        </m:rPr>
                        <a:rPr lang="en-US" dirty="0" smtClean="0"/>
                        <m:t> </m:t>
                      </m:r>
                      <m:r>
                        <m:rPr>
                          <m:nor/>
                        </m:rPr>
                        <a:rPr lang="en-US" dirty="0" smtClean="0"/>
                        <m:t>Cause</m:t>
                      </m:r>
                      <m:r>
                        <m:rPr>
                          <m:nor/>
                        </m:rPr>
                        <a:rPr lang="en-US" dirty="0" smtClean="0"/>
                        <m:t> </m:t>
                      </m:r>
                      <m:r>
                        <m:rPr>
                          <m:nor/>
                        </m:rPr>
                        <a:rPr lang="en-US" dirty="0" smtClean="0"/>
                        <m:t>Identified</m:t>
                      </m:r>
                      <m:r>
                        <m:rPr>
                          <m:nor/>
                        </m:rPr>
                        <a:rPr lang="en-US" b="0" i="0" dirty="0" smtClean="0"/>
                        <m:t> </m:t>
                      </m:r>
                      <m:r>
                        <m:rPr>
                          <m:nor/>
                        </m:rPr>
                        <a:rPr lang="en-US" dirty="0" smtClean="0"/>
                        <m:t>(%)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900" dirty="0"/>
                            <m:t>No</m:t>
                          </m:r>
                          <m:r>
                            <m:rPr>
                              <m:nor/>
                            </m:rPr>
                            <a:rPr lang="en-US" sz="9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900" dirty="0"/>
                            <m:t>of</m:t>
                          </m:r>
                          <m:r>
                            <m:rPr>
                              <m:nor/>
                            </m:rPr>
                            <a:rPr lang="en-US" sz="900" dirty="0"/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900" i="1" dirty="0">
                              <a:latin typeface="Cambria Math" panose="02040503050406030204" pitchFamily="18" charset="0"/>
                            </a:rPr>
                            <m:t>Incidents</m:t>
                          </m:r>
                          <m:r>
                            <m:rPr>
                              <m:nor/>
                            </m:rPr>
                            <a:rPr lang="en-US" sz="9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900" dirty="0"/>
                            <m:t>with</m:t>
                          </m:r>
                          <m:r>
                            <m:rPr>
                              <m:nor/>
                            </m:rPr>
                            <a:rPr lang="en-US" sz="9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900" dirty="0"/>
                            <m:t>root</m:t>
                          </m:r>
                          <m:r>
                            <m:rPr>
                              <m:nor/>
                            </m:rPr>
                            <a:rPr lang="en-US" sz="9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900" dirty="0"/>
                            <m:t>cause</m:t>
                          </m:r>
                          <m:r>
                            <m:rPr>
                              <m:nor/>
                            </m:rPr>
                            <a:rPr lang="en-US" sz="9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900" dirty="0"/>
                            <m:t>Identified</m:t>
                          </m:r>
                          <m:r>
                            <m:rPr>
                              <m:nor/>
                            </m:rPr>
                            <a:rPr lang="en-US" sz="900" dirty="0"/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900" dirty="0"/>
                            <m:t>N</m:t>
                          </m:r>
                          <m:r>
                            <m:rPr>
                              <m:nor/>
                            </m:rPr>
                            <a:rPr lang="en-US" sz="900" b="0" i="0" dirty="0" smtClean="0"/>
                            <m:t>o</m:t>
                          </m:r>
                          <m:r>
                            <m:rPr>
                              <m:nor/>
                            </m:rPr>
                            <a:rPr lang="en-US" sz="9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900" dirty="0"/>
                            <m:t>of</m:t>
                          </m:r>
                          <m:r>
                            <m:rPr>
                              <m:nor/>
                            </m:rPr>
                            <a:rPr lang="en-US" sz="900" dirty="0"/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900" i="1" dirty="0">
                              <a:latin typeface="Cambria Math" panose="02040503050406030204" pitchFamily="18" charset="0"/>
                            </a:rPr>
                            <m:t>Incident</m:t>
                          </m:r>
                          <m:r>
                            <m:rPr>
                              <m:sty m:val="p"/>
                            </m:rPr>
                            <a:rPr lang="en-US" sz="900" dirty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900" dirty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100%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58C03366-A659-9717-B05E-F3CA196ED8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0"/>
              </p:nvPr>
            </p:nvSpPr>
            <p:spPr>
              <a:xfrm>
                <a:off x="2054761" y="1731606"/>
                <a:ext cx="6367468" cy="276999"/>
              </a:xfrm>
              <a:blipFill>
                <a:blip r:embed="rId5"/>
                <a:stretch>
                  <a:fillRect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10">
            <a:extLst>
              <a:ext uri="{FF2B5EF4-FFF2-40B4-BE49-F238E27FC236}">
                <a16:creationId xmlns:a16="http://schemas.microsoft.com/office/drawing/2014/main" id="{2056A7EB-E833-D901-E77E-EE92A8809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031804"/>
              </p:ext>
            </p:extLst>
          </p:nvPr>
        </p:nvGraphicFramePr>
        <p:xfrm>
          <a:off x="7230544" y="180435"/>
          <a:ext cx="1532298" cy="475488"/>
        </p:xfrm>
        <a:graphic>
          <a:graphicData uri="http://schemas.openxmlformats.org/drawingml/2006/table">
            <a:tbl>
              <a:tblPr firstRow="1" bandRow="1">
                <a:tableStyleId>{09810C2D-2C2F-4581-8AFF-CD78C2D722A2}</a:tableStyleId>
              </a:tblPr>
              <a:tblGrid>
                <a:gridCol w="510766">
                  <a:extLst>
                    <a:ext uri="{9D8B030D-6E8A-4147-A177-3AD203B41FA5}">
                      <a16:colId xmlns:a16="http://schemas.microsoft.com/office/drawing/2014/main" val="925395706"/>
                    </a:ext>
                  </a:extLst>
                </a:gridCol>
                <a:gridCol w="510766">
                  <a:extLst>
                    <a:ext uri="{9D8B030D-6E8A-4147-A177-3AD203B41FA5}">
                      <a16:colId xmlns:a16="http://schemas.microsoft.com/office/drawing/2014/main" val="2942664720"/>
                    </a:ext>
                  </a:extLst>
                </a:gridCol>
                <a:gridCol w="510766">
                  <a:extLst>
                    <a:ext uri="{9D8B030D-6E8A-4147-A177-3AD203B41FA5}">
                      <a16:colId xmlns:a16="http://schemas.microsoft.com/office/drawing/2014/main" val="915332475"/>
                    </a:ext>
                  </a:extLst>
                </a:gridCol>
              </a:tblGrid>
              <a:tr h="171725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E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T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M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91404"/>
                  </a:ext>
                </a:extLst>
              </a:tr>
              <a:tr h="171725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87.3%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88.3%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89.3%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409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7635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6CA99EE2-CEEC-4472-4D99-003DACD5206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A99EE2-CEEC-4472-4D99-003DACD520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037619" y="960326"/>
            <a:ext cx="6725223" cy="534600"/>
          </a:xfrm>
        </p:spPr>
        <p:txBody>
          <a:bodyPr/>
          <a:lstStyle/>
          <a:p>
            <a:pPr fontAlgn="t">
              <a:spcAft>
                <a:spcPts val="0"/>
              </a:spcAft>
            </a:pPr>
            <a:r>
              <a:rPr kumimoji="0" lang="en-US" sz="9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/>
                <a:cs typeface="Arial"/>
              </a:rPr>
              <a:t>Measures IT Services’ ability to find root cause(s) for Incidents and eliminate them. </a:t>
            </a:r>
            <a:r>
              <a:rPr kumimoji="0" lang="en-US" sz="90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/>
                <a:cs typeface="Arial"/>
              </a:rPr>
              <a:t>The “Incidents” in Root Cause Focus is defined as Emergency </a:t>
            </a:r>
            <a:r>
              <a:rPr lang="en-US" sz="900" dirty="0">
                <a:solidFill>
                  <a:schemeClr val="tx1"/>
                </a:solidFill>
                <a:latin typeface="+mj-lt"/>
                <a:ea typeface="ＭＳ Ｐゴシック"/>
                <a:cs typeface="Arial"/>
              </a:rPr>
              <a:t>Incidents and Security Incidents. Solution Implemented measures the </a:t>
            </a:r>
            <a:r>
              <a:rPr lang="en-US" sz="900" dirty="0"/>
              <a:t>percentage of Incidents with Solution </a:t>
            </a:r>
            <a:r>
              <a:rPr lang="en-US" sz="900" b="0" i="0" u="none" strike="noStrike" baseline="0" noProof="0" dirty="0">
                <a:solidFill>
                  <a:schemeClr val="tx1"/>
                </a:solidFill>
                <a:latin typeface="+mj-lt"/>
              </a:rPr>
              <a:t>implemented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1">
              <a:buSzTx/>
            </a:pPr>
            <a:r>
              <a:rPr lang="en-US" sz="825">
                <a:solidFill>
                  <a:srgbClr val="000000"/>
                </a:solidFill>
              </a:rPr>
              <a:t>Global ServiceNow</a:t>
            </a:r>
          </a:p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466229" y="1706738"/>
            <a:ext cx="1293738" cy="138500"/>
          </a:xfrm>
        </p:spPr>
        <p:txBody>
          <a:bodyPr/>
          <a:lstStyle/>
          <a:p>
            <a:r>
              <a:rPr lang="en-US" dirty="0"/>
              <a:t>2025_1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473259" y="934905"/>
            <a:ext cx="1463039" cy="412264"/>
          </a:xfrm>
        </p:spPr>
        <p:txBody>
          <a:bodyPr/>
          <a:lstStyle/>
          <a:p>
            <a:pPr defTabSz="658416">
              <a:buClr>
                <a:srgbClr val="FFCC00"/>
              </a:buClr>
            </a:pPr>
            <a:r>
              <a:rPr lang="en-US" dirty="0"/>
              <a:t>Solution Implemented, </a:t>
            </a:r>
            <a:r>
              <a:rPr lang="en-US" dirty="0" err="1"/>
              <a:t>SolImp</a:t>
            </a:r>
            <a:endParaRPr lang="en-US" b="0" dirty="0">
              <a:solidFill>
                <a:srgbClr val="00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14002" y="166890"/>
            <a:ext cx="8348840" cy="534600"/>
          </a:xfrm>
        </p:spPr>
        <p:txBody>
          <a:bodyPr vert="horz" anchor="ctr"/>
          <a:lstStyle/>
          <a:p>
            <a:r>
              <a:rPr lang="en-US" dirty="0"/>
              <a:t>Root Cause Focus – Solution Implemented</a:t>
            </a:r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Daily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12"/>
              <p:cNvSpPr>
                <a:spLocks noGrp="1"/>
              </p:cNvSpPr>
              <p:nvPr>
                <p:ph type="body" sz="quarter" idx="20"/>
              </p:nvPr>
            </p:nvSpPr>
            <p:spPr>
              <a:xfrm>
                <a:off x="2032975" y="1729616"/>
                <a:ext cx="6729867" cy="300520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dirty="0"/>
                  <a:t>Solution Implemented (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%)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No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i="0" dirty="0" smtClean="0"/>
                          <m:t>Incidents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with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Solution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Implemented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Number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Incidents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  </m:t>
                        </m:r>
                      </m:den>
                    </m:f>
                    <m:r>
                      <a:rPr lang="en-US" b="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b="0" dirty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 Placeholder 1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0"/>
              </p:nvPr>
            </p:nvSpPr>
            <p:spPr>
              <a:xfrm>
                <a:off x="2032975" y="1729616"/>
                <a:ext cx="6729867" cy="300520"/>
              </a:xfr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Placeholder 1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Manoj Menon, ISQ</a:t>
            </a:r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22"/>
          </p:nvPr>
        </p:nvSpPr>
        <p:spPr>
          <a:xfrm>
            <a:off x="466229" y="3272545"/>
            <a:ext cx="1463040" cy="461644"/>
          </a:xfrm>
        </p:spPr>
        <p:txBody>
          <a:bodyPr/>
          <a:lstStyle/>
          <a:p>
            <a:r>
              <a:rPr lang="en-US" dirty="0"/>
              <a:t>Alina Tofan, Service Quality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22BED366-AD66-4041-B289-E377354120AA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2036492" y="2114530"/>
                <a:ext cx="1243604" cy="1790137"/>
              </a:xfrm>
            </p:spPr>
            <p:txBody>
              <a:bodyPr lIns="0" tIns="0"/>
              <a:lstStyle/>
              <a:p>
                <a:pPr marL="0" lvl="1" indent="0" defTabSz="684610">
                  <a:lnSpc>
                    <a:spcPct val="100000"/>
                  </a:lnSpc>
                  <a:spcAft>
                    <a:spcPts val="0"/>
                  </a:spcAft>
                  <a:buClr>
                    <a:srgbClr val="FFCC00"/>
                  </a:buClr>
                  <a:buFont typeface="Arial" panose="020B0604020202020204" pitchFamily="34" charset="0"/>
                  <a:buNone/>
                </a:pPr>
                <a:r>
                  <a:rPr lang="en-US" sz="800" b="1" dirty="0"/>
                  <a:t>[Number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800" b="1" dirty="0" smtClean="0"/>
                      <m:t>Incidents</m:t>
                    </m:r>
                  </m:oMath>
                </a14:m>
                <a:r>
                  <a:rPr lang="en-US" sz="800" b="1" dirty="0"/>
                  <a:t>] is defined as</a:t>
                </a:r>
              </a:p>
              <a:p>
                <a:pPr marL="227012" lvl="1" indent="-171450" defTabSz="684610">
                  <a:lnSpc>
                    <a:spcPct val="100000"/>
                  </a:lnSpc>
                  <a:spcAft>
                    <a:spcPts val="0"/>
                  </a:spcAft>
                  <a:buClr>
                    <a:srgbClr val="FFCC00"/>
                  </a:buClr>
                  <a:buFont typeface="Courier New" panose="02070309020205020404" pitchFamily="49" charset="0"/>
                  <a:buChar char="o"/>
                </a:pPr>
                <a:r>
                  <a:rPr lang="en-US" sz="800" dirty="0"/>
                  <a:t>Same </a:t>
                </a:r>
                <a:r>
                  <a:rPr lang="en-US" sz="800" dirty="0">
                    <a:solidFill>
                      <a:schemeClr val="tx1"/>
                    </a:solidFill>
                  </a:rPr>
                  <a:t>scope/d</a:t>
                </a:r>
                <a:r>
                  <a:rPr lang="en-US" sz="800" dirty="0"/>
                  <a:t>efinition as Root Cause Identified, refer </a:t>
                </a:r>
                <a:r>
                  <a:rPr lang="en-US" sz="800" baseline="0" noProof="0" dirty="0">
                    <a:latin typeface="+mn-lt"/>
                  </a:rPr>
                  <a:t>Root causes identified scope</a:t>
                </a:r>
                <a:endParaRPr lang="en-US" sz="800" dirty="0"/>
              </a:p>
              <a:p>
                <a:pPr marL="117475">
                  <a:lnSpc>
                    <a:spcPct val="100000"/>
                  </a:lnSpc>
                  <a:spcAft>
                    <a:spcPts val="200"/>
                  </a:spcAft>
                  <a:buClr>
                    <a:schemeClr val="tx1"/>
                  </a:buClr>
                </a:pPr>
                <a:endParaRPr lang="en-US" sz="8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22BED366-AD66-4041-B289-E377354120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2036492" y="2114530"/>
                <a:ext cx="1243604" cy="1790137"/>
              </a:xfrm>
              <a:blipFill>
                <a:blip r:embed="rId6"/>
                <a:stretch>
                  <a:fillRect l="-4902" t="-2041" r="-6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3">
                <a:extLst>
                  <a:ext uri="{FF2B5EF4-FFF2-40B4-BE49-F238E27FC236}">
                    <a16:creationId xmlns:a16="http://schemas.microsoft.com/office/drawing/2014/main" id="{93F10B5C-04C6-4D38-8C7D-FEEAD573F0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80288" y="2066996"/>
                <a:ext cx="5375524" cy="188520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6858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500"/>
                  </a:spcAft>
                  <a:buFont typeface="Arial" panose="020B0604020202020204" pitchFamily="34" charset="0"/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48205" indent="-146990" algn="l" defTabSz="6858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500"/>
                  </a:spcAft>
                  <a:buClr>
                    <a:srgbClr val="FFC000"/>
                  </a:buClr>
                  <a:buFont typeface="Arial" panose="020B0604020202020204" pitchFamily="34" charset="0"/>
                  <a:buChar char="■"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0000" indent="-180000" algn="l" defTabSz="6858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500"/>
                  </a:spcAft>
                  <a:buClr>
                    <a:srgbClr val="FFC000"/>
                  </a:buClr>
                  <a:buFont typeface="Symbol" panose="05050102010706020507" pitchFamily="18" charset="2"/>
                  <a:buChar char="-"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40000" indent="-180000" algn="l" defTabSz="6858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500"/>
                  </a:spcAft>
                  <a:buClr>
                    <a:srgbClr val="FFC000"/>
                  </a:buClr>
                  <a:buFont typeface="Symbol" panose="05050102010706020507" pitchFamily="18" charset="2"/>
                  <a:buChar char="-"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0" indent="0" algn="l" defTabSz="6858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500"/>
                  </a:spcAft>
                  <a:buClr>
                    <a:srgbClr val="FFC000"/>
                  </a:buClr>
                  <a:buFont typeface="Arial" panose="020B0604020202020204" pitchFamily="34" charset="0"/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6858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None/>
                  <a:defRPr sz="12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0000" indent="-180000" algn="l" defTabSz="6858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500"/>
                  </a:spcAft>
                  <a:buClr>
                    <a:schemeClr val="accent4"/>
                  </a:buClr>
                  <a:buFont typeface="+mj-lt"/>
                  <a:buAutoNum type="arabicPeriod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 defTabSz="684610">
                  <a:lnSpc>
                    <a:spcPct val="100000"/>
                  </a:lnSpc>
                  <a:spcAft>
                    <a:spcPts val="0"/>
                  </a:spcAft>
                  <a:buClr>
                    <a:srgbClr val="FFCC00"/>
                  </a:buClr>
                  <a:buNone/>
                </a:pPr>
                <a:r>
                  <a:rPr lang="en-US" sz="700" b="1" dirty="0"/>
                  <a:t> [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700" b="1" dirty="0"/>
                      <m:t>No</m:t>
                    </m:r>
                    <m:r>
                      <m:rPr>
                        <m:nor/>
                      </m:rPr>
                      <a:rPr lang="en-US" sz="700" b="1" dirty="0"/>
                      <m:t> </m:t>
                    </m:r>
                    <m:r>
                      <m:rPr>
                        <m:nor/>
                      </m:rPr>
                      <a:rPr lang="en-US" sz="700" b="1" dirty="0"/>
                      <m:t>of</m:t>
                    </m:r>
                    <m:r>
                      <m:rPr>
                        <m:nor/>
                      </m:rPr>
                      <a:rPr lang="en-US" sz="700" b="1" dirty="0"/>
                      <m:t> </m:t>
                    </m:r>
                    <m:r>
                      <a:rPr lang="en-US" sz="700" b="1" i="0" dirty="0" smtClean="0">
                        <a:latin typeface="Cambria Math" panose="02040503050406030204" pitchFamily="18" charset="0"/>
                      </a:rPr>
                      <m:t>𝐈𝐧𝐜𝐢𝐝𝐞𝐧𝐭𝐬</m:t>
                    </m:r>
                    <m:r>
                      <m:rPr>
                        <m:nor/>
                      </m:rPr>
                      <a:rPr lang="en-US" sz="700" b="1" dirty="0"/>
                      <m:t> </m:t>
                    </m:r>
                    <m:r>
                      <m:rPr>
                        <m:nor/>
                      </m:rPr>
                      <a:rPr lang="en-US" sz="700" b="1" dirty="0"/>
                      <m:t>with</m:t>
                    </m:r>
                    <m:r>
                      <m:rPr>
                        <m:nor/>
                      </m:rPr>
                      <a:rPr lang="en-US" sz="700" b="1" dirty="0"/>
                      <m:t> </m:t>
                    </m:r>
                    <m:r>
                      <m:rPr>
                        <m:nor/>
                      </m:rPr>
                      <a:rPr lang="en-US" sz="700" b="1" dirty="0"/>
                      <m:t>Solution</m:t>
                    </m:r>
                    <m:r>
                      <m:rPr>
                        <m:nor/>
                      </m:rPr>
                      <a:rPr lang="en-US" sz="700" b="1" dirty="0" smtClean="0"/>
                      <m:t> </m:t>
                    </m:r>
                    <m:r>
                      <m:rPr>
                        <m:nor/>
                      </m:rPr>
                      <a:rPr lang="en-US" sz="700" b="1" dirty="0" smtClean="0"/>
                      <m:t>Implemented</m:t>
                    </m:r>
                  </m:oMath>
                </a14:m>
                <a:r>
                  <a:rPr lang="en-US" sz="700" b="1" dirty="0"/>
                  <a:t>] is defined as</a:t>
                </a:r>
              </a:p>
              <a:p>
                <a:pPr marL="171450" lvl="1" indent="-114300" defTabSz="684610">
                  <a:lnSpc>
                    <a:spcPct val="100000"/>
                  </a:lnSpc>
                  <a:spcAft>
                    <a:spcPts val="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</a:pPr>
                <a:r>
                  <a:rPr lang="en-US" sz="700" b="1" dirty="0"/>
                  <a:t>For Incident Type = Incident</a:t>
                </a:r>
              </a:p>
              <a:p>
                <a:pPr marL="400050" indent="-166688">
                  <a:lnSpc>
                    <a:spcPct val="100000"/>
                  </a:lnSpc>
                  <a:spcAft>
                    <a:spcPts val="200"/>
                  </a:spcAft>
                  <a:buClr>
                    <a:schemeClr val="tx1"/>
                  </a:buClr>
                  <a:buFont typeface="+mj-lt"/>
                  <a:buAutoNum type="romanLcPeriod"/>
                </a:pPr>
                <a:r>
                  <a:rPr lang="en-US" sz="700" dirty="0">
                    <a:highlight>
                      <a:srgbClr val="FFFF00"/>
                    </a:highlight>
                  </a:rPr>
                  <a:t>Incident closure code  =  “Resolved ( Permanent Fix) “ AND QC Tags [Ticket Quality Indicator]= ‘ %Pass’ </a:t>
                </a:r>
              </a:p>
              <a:p>
                <a:pPr marL="400050" indent="-166688">
                  <a:lnSpc>
                    <a:spcPct val="100000"/>
                  </a:lnSpc>
                  <a:spcAft>
                    <a:spcPts val="200"/>
                  </a:spcAft>
                  <a:buClr>
                    <a:schemeClr val="tx1"/>
                  </a:buClr>
                  <a:buFont typeface="+mj-lt"/>
                  <a:buAutoNum type="romanLcPeriod"/>
                </a:pPr>
                <a:r>
                  <a:rPr lang="en-US" sz="700" dirty="0">
                    <a:highlight>
                      <a:srgbClr val="FFFF00"/>
                    </a:highlight>
                  </a:rPr>
                  <a:t>Incident closure code  =  “Resolved ( Permanent Fix) “ AND QC Tags [Ticket Quality Indicator] = ‘ %Fail’ AND ‘No of Fields updated after 2 hours resolution’ IS NOT NULL </a:t>
                </a:r>
              </a:p>
              <a:p>
                <a:pPr marL="400050" indent="-166688">
                  <a:spcAft>
                    <a:spcPts val="200"/>
                  </a:spcAft>
                  <a:buClr>
                    <a:schemeClr val="tx1"/>
                  </a:buClr>
                  <a:buFont typeface="+mj-lt"/>
                  <a:buAutoNum type="romanLcPeriod"/>
                </a:pPr>
                <a:r>
                  <a:rPr lang="en-US" sz="700" dirty="0"/>
                  <a:t>Exclude Problem Tickets with Closure Code = “Not Solved / Rejected” </a:t>
                </a:r>
              </a:p>
              <a:p>
                <a:pPr marL="400050" indent="-166688">
                  <a:spcAft>
                    <a:spcPts val="200"/>
                  </a:spcAft>
                  <a:buClr>
                    <a:schemeClr val="tx1"/>
                  </a:buClr>
                  <a:buFont typeface="+mj-lt"/>
                  <a:buAutoNum type="romanLcPeriod"/>
                </a:pPr>
                <a:r>
                  <a:rPr lang="en-US" sz="700" dirty="0"/>
                  <a:t>(Root Cause) Incidents with Linked Problem and Problem State = </a:t>
                </a:r>
                <a:r>
                  <a:rPr lang="en-US" sz="700" dirty="0">
                    <a:ea typeface="SimSun" panose="02010600030101010101" pitchFamily="2" charset="-122"/>
                  </a:rPr>
                  <a:t>Solution Validation OR</a:t>
                </a:r>
              </a:p>
              <a:p>
                <a:pPr marL="400050" indent="-166688">
                  <a:spcAft>
                    <a:spcPts val="200"/>
                  </a:spcAft>
                  <a:buClr>
                    <a:schemeClr val="tx1"/>
                  </a:buClr>
                  <a:buFont typeface="+mj-lt"/>
                  <a:buAutoNum type="romanLcPeriod"/>
                </a:pPr>
                <a:r>
                  <a:rPr lang="en-US" sz="700" dirty="0"/>
                  <a:t>(Root Cause) Incidents with Linked Problem and Problem State =</a:t>
                </a:r>
                <a:r>
                  <a:rPr lang="en-US" sz="700" dirty="0">
                    <a:ea typeface="SimSun" panose="02010600030101010101" pitchFamily="2" charset="-122"/>
                  </a:rPr>
                  <a:t> Closed AND [ Problem Closure Code IN (‘Solved / No </a:t>
                </a:r>
                <a:r>
                  <a:rPr lang="en-US" sz="700" dirty="0" err="1">
                    <a:ea typeface="SimSun" panose="02010600030101010101" pitchFamily="2" charset="-122"/>
                  </a:rPr>
                  <a:t>RfC</a:t>
                </a:r>
                <a:r>
                  <a:rPr lang="en-US" sz="700" dirty="0">
                    <a:ea typeface="SimSun" panose="02010600030101010101" pitchFamily="2" charset="-122"/>
                  </a:rPr>
                  <a:t> Needed’, ’</a:t>
                </a:r>
                <a:r>
                  <a:rPr lang="en-US" sz="700" u="none" strike="noStrike" dirty="0">
                    <a:effectLst/>
                  </a:rPr>
                  <a:t> Solved / </a:t>
                </a:r>
                <a:r>
                  <a:rPr lang="en-US" sz="700" u="none" strike="noStrike" dirty="0" err="1">
                    <a:effectLst/>
                  </a:rPr>
                  <a:t>RfC</a:t>
                </a:r>
                <a:r>
                  <a:rPr lang="en-US" sz="700" u="none" strike="noStrike" dirty="0">
                    <a:effectLst/>
                  </a:rPr>
                  <a:t> Implemented’ , ‘Not Solved / Workaround’)]</a:t>
                </a:r>
              </a:p>
              <a:p>
                <a:pPr marL="396875" lvl="1" indent="-171450">
                  <a:lnSpc>
                    <a:spcPct val="100000"/>
                  </a:lnSpc>
                  <a:spcAft>
                    <a:spcPts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7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if an Incident is related to only 1 PRB and the PRB </a:t>
                </a:r>
                <a:r>
                  <a:rPr lang="en-US" sz="700" dirty="0"/>
                  <a:t>Closure Code is  (</a:t>
                </a:r>
                <a:r>
                  <a:rPr lang="en-US" sz="700" dirty="0">
                    <a:effectLst/>
                    <a:ea typeface="DengXian" panose="02010600030101010101" pitchFamily="2" charset="-122"/>
                  </a:rPr>
                  <a:t>Not Solved / Rejected) </a:t>
                </a:r>
                <a:r>
                  <a:rPr lang="en-US" sz="7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, then it means the Incident has no valid Problem and does not meet the KPI.</a:t>
                </a:r>
                <a:endParaRPr lang="en-US" sz="700" dirty="0">
                  <a:effectLst/>
                  <a:ea typeface="DengXian" panose="02010600030101010101" pitchFamily="2" charset="-122"/>
                </a:endParaRPr>
              </a:p>
              <a:p>
                <a:pPr marL="396875" lvl="1" indent="-171450">
                  <a:lnSpc>
                    <a:spcPct val="100000"/>
                  </a:lnSpc>
                  <a:spcAft>
                    <a:spcPts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700" dirty="0"/>
                  <a:t>If an incident is related to multiple problem tickets, </a:t>
                </a:r>
              </a:p>
              <a:p>
                <a:pPr marL="569913" indent="-117475">
                  <a:lnSpc>
                    <a:spcPct val="100000"/>
                  </a:lnSpc>
                  <a:spcAft>
                    <a:spcPts val="0"/>
                  </a:spcAft>
                  <a:buClr>
                    <a:schemeClr val="tx1"/>
                  </a:buClr>
                </a:pPr>
                <a:r>
                  <a:rPr lang="en-US" sz="700" dirty="0"/>
                  <a:t>(a) Problems with Closure Code (</a:t>
                </a:r>
                <a:r>
                  <a:rPr lang="en-US" sz="700" dirty="0">
                    <a:effectLst/>
                    <a:ea typeface="DengXian" panose="02010600030101010101" pitchFamily="2" charset="-122"/>
                  </a:rPr>
                  <a:t>Not Solved / Rejected) should be excluded and NOT use to determine fulfillment of the KPI</a:t>
                </a:r>
              </a:p>
              <a:p>
                <a:pPr marL="569913" indent="-117475">
                  <a:lnSpc>
                    <a:spcPct val="100000"/>
                  </a:lnSpc>
                  <a:spcAft>
                    <a:spcPts val="0"/>
                  </a:spcAft>
                  <a:buClr>
                    <a:schemeClr val="tx1"/>
                  </a:buClr>
                </a:pPr>
                <a:r>
                  <a:rPr lang="en-US" sz="700" dirty="0"/>
                  <a:t>(b) </a:t>
                </a:r>
                <a:r>
                  <a:rPr lang="en-US" sz="700" dirty="0">
                    <a:highlight>
                      <a:srgbClr val="FFFF00"/>
                    </a:highlight>
                  </a:rPr>
                  <a:t>Only the first linked problem ticket is used to determine KPI fulfillment.  [Different from 2024 Definition</a:t>
                </a:r>
                <a:r>
                  <a:rPr lang="en-US" sz="800" dirty="0">
                    <a:highlight>
                      <a:srgbClr val="FFFF00"/>
                    </a:highlight>
                  </a:rPr>
                  <a:t>]</a:t>
                </a:r>
              </a:p>
              <a:p>
                <a:pPr marL="400050" indent="-166688">
                  <a:spcAft>
                    <a:spcPts val="200"/>
                  </a:spcAft>
                  <a:buClr>
                    <a:schemeClr val="tx1"/>
                  </a:buClr>
                  <a:buFont typeface="+mj-lt"/>
                  <a:buAutoNum type="romanLcPeriod"/>
                </a:pPr>
                <a:endParaRPr lang="en-US" sz="300" u="none" strike="noStrike" dirty="0">
                  <a:effectLst/>
                </a:endParaRPr>
              </a:p>
              <a:p>
                <a:pPr marL="171450" indent="-114300">
                  <a:lnSpc>
                    <a:spcPct val="100000"/>
                  </a:lnSpc>
                  <a:spcAft>
                    <a:spcPts val="20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§"/>
                </a:pPr>
                <a:r>
                  <a:rPr lang="en-US" sz="700" b="1" dirty="0"/>
                  <a:t>Incident Type = Security Incident </a:t>
                </a:r>
              </a:p>
              <a:p>
                <a:pPr marL="400050" lvl="1" indent="-114300">
                  <a:lnSpc>
                    <a:spcPct val="100000"/>
                  </a:lnSpc>
                  <a:spcAft>
                    <a:spcPts val="200"/>
                  </a:spcAft>
                  <a:buClr>
                    <a:schemeClr val="tx1"/>
                  </a:buClr>
                  <a:buFont typeface="Courier New" panose="02070309020205020404" pitchFamily="49" charset="0"/>
                  <a:buChar char="o"/>
                </a:pPr>
                <a:r>
                  <a:rPr lang="en-US" sz="700" dirty="0"/>
                  <a:t>Ticket is Tag with </a:t>
                </a:r>
                <a:r>
                  <a:rPr lang="en-US" sz="700" i="0" u="none" strike="noStrike" dirty="0">
                    <a:solidFill>
                      <a:srgbClr val="000000"/>
                    </a:solidFill>
                    <a:effectLst/>
                  </a:rPr>
                  <a:t>#SIAP </a:t>
                </a:r>
                <a:r>
                  <a:rPr lang="en-US" sz="700" dirty="0">
                    <a:solidFill>
                      <a:srgbClr val="000000"/>
                    </a:solidFill>
                    <a:highlight>
                      <a:srgbClr val="FFFF00"/>
                    </a:highlight>
                  </a:rPr>
                  <a:t>  </a:t>
                </a:r>
              </a:p>
              <a:p>
                <a:pPr marL="400050" lvl="1" indent="-114300">
                  <a:lnSpc>
                    <a:spcPct val="100000"/>
                  </a:lnSpc>
                  <a:spcAft>
                    <a:spcPts val="200"/>
                  </a:spcAft>
                  <a:buClr>
                    <a:schemeClr val="tx1"/>
                  </a:buClr>
                  <a:buFont typeface="Courier New" panose="02070309020205020404" pitchFamily="49" charset="0"/>
                  <a:buChar char="o"/>
                </a:pPr>
                <a:endParaRPr lang="en-US" sz="300" dirty="0">
                  <a:solidFill>
                    <a:srgbClr val="000000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5" name="Text Placeholder 3">
                <a:extLst>
                  <a:ext uri="{FF2B5EF4-FFF2-40B4-BE49-F238E27FC236}">
                    <a16:creationId xmlns:a16="http://schemas.microsoft.com/office/drawing/2014/main" id="{93F10B5C-04C6-4D38-8C7D-FEEAD573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288" y="2066996"/>
                <a:ext cx="5375524" cy="1885203"/>
              </a:xfrm>
              <a:prstGeom prst="rect">
                <a:avLst/>
              </a:prstGeom>
              <a:blipFill>
                <a:blip r:embed="rId7"/>
                <a:stretch>
                  <a:fillRect l="-795" t="-1618" r="-908" b="-9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10">
            <a:extLst>
              <a:ext uri="{FF2B5EF4-FFF2-40B4-BE49-F238E27FC236}">
                <a16:creationId xmlns:a16="http://schemas.microsoft.com/office/drawing/2014/main" id="{701FEFBC-08D1-BF64-CABB-A8D28EC64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107293"/>
              </p:ext>
            </p:extLst>
          </p:nvPr>
        </p:nvGraphicFramePr>
        <p:xfrm>
          <a:off x="7230544" y="180435"/>
          <a:ext cx="1532298" cy="475488"/>
        </p:xfrm>
        <a:graphic>
          <a:graphicData uri="http://schemas.openxmlformats.org/drawingml/2006/table">
            <a:tbl>
              <a:tblPr firstRow="1" bandRow="1">
                <a:tableStyleId>{09810C2D-2C2F-4581-8AFF-CD78C2D722A2}</a:tableStyleId>
              </a:tblPr>
              <a:tblGrid>
                <a:gridCol w="510766">
                  <a:extLst>
                    <a:ext uri="{9D8B030D-6E8A-4147-A177-3AD203B41FA5}">
                      <a16:colId xmlns:a16="http://schemas.microsoft.com/office/drawing/2014/main" val="925395706"/>
                    </a:ext>
                  </a:extLst>
                </a:gridCol>
                <a:gridCol w="510766">
                  <a:extLst>
                    <a:ext uri="{9D8B030D-6E8A-4147-A177-3AD203B41FA5}">
                      <a16:colId xmlns:a16="http://schemas.microsoft.com/office/drawing/2014/main" val="2942664720"/>
                    </a:ext>
                  </a:extLst>
                </a:gridCol>
                <a:gridCol w="510766">
                  <a:extLst>
                    <a:ext uri="{9D8B030D-6E8A-4147-A177-3AD203B41FA5}">
                      <a16:colId xmlns:a16="http://schemas.microsoft.com/office/drawing/2014/main" val="915332475"/>
                    </a:ext>
                  </a:extLst>
                </a:gridCol>
              </a:tblGrid>
              <a:tr h="171725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E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T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M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91404"/>
                  </a:ext>
                </a:extLst>
              </a:tr>
              <a:tr h="171725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74.8%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75.8%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76.8%</a:t>
                      </a:r>
                    </a:p>
                  </a:txBody>
                  <a:tcPr>
                    <a:lnL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409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2173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b6e8YCdXLpb9wckcScD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b6e8YCdXLpb9wckcScD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9zDDC09a53Ko53PO9EPR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HL_GBS">
  <a:themeElements>
    <a:clrScheme name="DPDHL">
      <a:dk1>
        <a:sysClr val="windowText" lastClr="000000"/>
      </a:dk1>
      <a:lt1>
        <a:sysClr val="window" lastClr="FFFFFF"/>
      </a:lt1>
      <a:dk2>
        <a:srgbClr val="B2B2B2"/>
      </a:dk2>
      <a:lt2>
        <a:srgbClr val="E5E5E5"/>
      </a:lt2>
      <a:accent1>
        <a:srgbClr val="8C8C8C"/>
      </a:accent1>
      <a:accent2>
        <a:srgbClr val="666666"/>
      </a:accent2>
      <a:accent3>
        <a:srgbClr val="FFCC00"/>
      </a:accent3>
      <a:accent4>
        <a:srgbClr val="D40511"/>
      </a:accent4>
      <a:accent5>
        <a:srgbClr val="EBEBEB"/>
      </a:accent5>
      <a:accent6>
        <a:srgbClr val="F2F2F2"/>
      </a:accent6>
      <a:hlink>
        <a:srgbClr val="000000"/>
      </a:hlink>
      <a:folHlink>
        <a:srgbClr val="000000"/>
      </a:folHlink>
    </a:clrScheme>
    <a:fontScheme name="DPDHL">
      <a:majorFont>
        <a:latin typeface="Delivery"/>
        <a:ea typeface=""/>
        <a:cs typeface=""/>
      </a:majorFont>
      <a:minorFont>
        <a:latin typeface="Deliver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72000" tIns="36000" rIns="72000" bIns="36000" rtlCol="0" anchor="t">
        <a:noAutofit/>
      </a:bodyPr>
      <a:lstStyle>
        <a:defPPr algn="l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Aft>
            <a:spcPts val="500"/>
          </a:spcAft>
          <a:defRPr sz="1200" dirty="0" err="1" smtClean="0"/>
        </a:defPPr>
      </a:lstStyle>
    </a:txDef>
  </a:objectDefaults>
  <a:extraClrSchemeLst/>
  <a:custClrLst>
    <a:custClr name="100% Postyellow">
      <a:srgbClr val="FFCC00"/>
    </a:custClr>
    <a:custClr name="70% Postyellow">
      <a:srgbClr val="FFDB4C"/>
    </a:custClr>
    <a:custClr name="50% Postyellow">
      <a:srgbClr val="FFE57F"/>
    </a:custClr>
    <a:custClr name="30% Postyellow">
      <a:srgbClr val="FFF0B2"/>
    </a:custClr>
    <a:custClr name="20% Postyellow">
      <a:srgbClr val="FFF5CC"/>
    </a:custClr>
    <a:custClr name="None">
      <a:srgbClr val="FFFFFF"/>
    </a:custClr>
    <a:custClr name="Dark Green">
      <a:srgbClr val="007C39"/>
    </a:custClr>
    <a:custClr name="65% Postyellow">
      <a:srgbClr val="FFDE59"/>
    </a:custClr>
    <a:custClr name="None">
      <a:srgbClr val="FFFFFF"/>
    </a:custClr>
    <a:custClr name="None">
      <a:srgbClr val="FFFFFF"/>
    </a:custClr>
    <a:custClr name="Gray 80">
      <a:srgbClr val="333333"/>
    </a:custClr>
    <a:custClr name="Gray 60">
      <a:srgbClr val="666666"/>
    </a:custClr>
    <a:custClr name="Gray 45">
      <a:srgbClr val="8C8C8C"/>
    </a:custClr>
    <a:custClr name="Gray 30">
      <a:srgbClr val="B2B2B2"/>
    </a:custClr>
    <a:custClr name="Gray 20">
      <a:srgbClr val="CCCCCC"/>
    </a:custClr>
    <a:custClr name="Gray 10">
      <a:srgbClr val="E6E6E6"/>
    </a:custClr>
    <a:custClr name="Gray 08">
      <a:srgbClr val="EBEBEB"/>
    </a:custClr>
    <a:custClr name="Gray 05">
      <a:srgbClr val="F2F2F2"/>
    </a:custClr>
    <a:custClr name="None">
      <a:srgbClr val="FFFFFF"/>
    </a:custClr>
    <a:custClr name="None">
      <a:srgbClr val="FFFFFF"/>
    </a:custClr>
  </a:custClrLst>
  <a:extLst>
    <a:ext uri="{05A4C25C-085E-4340-85A3-A5531E510DB2}">
      <thm15:themeFamily xmlns:thm15="http://schemas.microsoft.com/office/thememl/2012/main" name="DHL_GBS.potx" id="{95E8690D-93FB-4DB9-BE03-E91910F7C7F9}" vid="{4AD76293-FDC9-4A57-9FBA-96073EA3428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3D862591723442B2527A34C9F76E98" ma:contentTypeVersion="11" ma:contentTypeDescription="Create a new document." ma:contentTypeScope="" ma:versionID="7e1e4c2d8c276ec6b0a59bc962a2e7fa">
  <xsd:schema xmlns:xsd="http://www.w3.org/2001/XMLSchema" xmlns:xs="http://www.w3.org/2001/XMLSchema" xmlns:p="http://schemas.microsoft.com/office/2006/metadata/properties" xmlns:ns2="e86e9c9c-bb5f-434d-94eb-fbbfe428429d" xmlns:ns3="49c25601-828a-4ef6-8982-29415328ca49" targetNamespace="http://schemas.microsoft.com/office/2006/metadata/properties" ma:root="true" ma:fieldsID="88b54ed4dfee9fb984e49405858f1711" ns2:_="" ns3:_="">
    <xsd:import namespace="e86e9c9c-bb5f-434d-94eb-fbbfe428429d"/>
    <xsd:import namespace="49c25601-828a-4ef6-8982-29415328ca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6e9c9c-bb5f-434d-94eb-fbbfe42842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bb9e2a73-f419-4c44-99f5-cd310bbfdd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c25601-828a-4ef6-8982-29415328ca4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9773ee66-f3e9-4763-af97-84c4bc05f02c}" ma:internalName="TaxCatchAll" ma:showField="CatchAllData" ma:web="49c25601-828a-4ef6-8982-29415328ca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86e9c9c-bb5f-434d-94eb-fbbfe428429d">
      <Terms xmlns="http://schemas.microsoft.com/office/infopath/2007/PartnerControls"/>
    </lcf76f155ced4ddcb4097134ff3c332f>
    <TaxCatchAll xmlns="49c25601-828a-4ef6-8982-29415328ca49" xsi:nil="true"/>
  </documentManagement>
</p:properties>
</file>

<file path=customXml/itemProps1.xml><?xml version="1.0" encoding="utf-8"?>
<ds:datastoreItem xmlns:ds="http://schemas.openxmlformats.org/officeDocument/2006/customXml" ds:itemID="{3DD843B2-047A-476B-B41D-41DA118FE9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6e9c9c-bb5f-434d-94eb-fbbfe428429d"/>
    <ds:schemaRef ds:uri="49c25601-828a-4ef6-8982-29415328ca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0BC39A-6935-4200-A303-5FB062416A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F59791-6C53-4786-9363-973FD11A0BE3}">
  <ds:schemaRefs>
    <ds:schemaRef ds:uri="http://schemas.microsoft.com/office/2006/metadata/properties"/>
    <ds:schemaRef ds:uri="http://schemas.microsoft.com/office/infopath/2007/PartnerControls"/>
    <ds:schemaRef ds:uri="e86e9c9c-bb5f-434d-94eb-fbbfe428429d"/>
    <ds:schemaRef ds:uri="49c25601-828a-4ef6-8982-29415328ca49"/>
  </ds:schemaRefs>
</ds:datastoreItem>
</file>

<file path=docMetadata/LabelInfo.xml><?xml version="1.0" encoding="utf-8"?>
<clbl:labelList xmlns:clbl="http://schemas.microsoft.com/office/2020/mipLabelMetadata">
  <clbl:label id="{736915f3-2f02-4945-8997-f2963298db46}" enabled="1" method="Standard" siteId="{cd99fef8-1cd3-4a2a-9bdf-15531181d65e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DHL_GBS_AIP</Template>
  <TotalTime>0</TotalTime>
  <Words>1115</Words>
  <Application>Microsoft Office PowerPoint</Application>
  <PresentationFormat>On-screen Show (16:9)</PresentationFormat>
  <Paragraphs>96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6" baseType="lpstr">
      <vt:lpstr>DengXian</vt:lpstr>
      <vt:lpstr>SimSun</vt:lpstr>
      <vt:lpstr>Arial</vt:lpstr>
      <vt:lpstr>Calibri</vt:lpstr>
      <vt:lpstr>Cambria Math</vt:lpstr>
      <vt:lpstr>Courier New</vt:lpstr>
      <vt:lpstr>Delivery</vt:lpstr>
      <vt:lpstr>Delivery Cd Black</vt:lpstr>
      <vt:lpstr>Delivery Cd Light</vt:lpstr>
      <vt:lpstr>Symbol</vt:lpstr>
      <vt:lpstr>Wingdings</vt:lpstr>
      <vt:lpstr>DHL_GBS</vt:lpstr>
      <vt:lpstr>think-cell Slide</vt:lpstr>
      <vt:lpstr>Root Cause Focus – Root causes identified for Emergency incidents for ITS managed solutions (1 of 2)</vt:lpstr>
      <vt:lpstr>Root Cause Focus – Root causes identified for Emergency incidents for ITS managed solutions (2 of 2)</vt:lpstr>
      <vt:lpstr>Root Cause Focus – Solution Implemented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TITLE ONE OR TWO LINES, DELIVERY CONDENSED BLACK, 36 PT</dc:title>
  <dc:creator>Michal Kares (DHL IT Services)</dc:creator>
  <cp:lastModifiedBy>Edward Yin (DHL IT Services)</cp:lastModifiedBy>
  <cp:revision>7</cp:revision>
  <dcterms:created xsi:type="dcterms:W3CDTF">2022-02-01T16:18:53Z</dcterms:created>
  <dcterms:modified xsi:type="dcterms:W3CDTF">2025-03-14T07:57:32Z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6915f3-2f02-4945-8997-f2963298db46_Enabled">
    <vt:lpwstr>true</vt:lpwstr>
  </property>
  <property fmtid="{D5CDD505-2E9C-101B-9397-08002B2CF9AE}" pid="3" name="MSIP_Label_736915f3-2f02-4945-8997-f2963298db46_SetDate">
    <vt:lpwstr>2022-02-01T16:21:46Z</vt:lpwstr>
  </property>
  <property fmtid="{D5CDD505-2E9C-101B-9397-08002B2CF9AE}" pid="4" name="MSIP_Label_736915f3-2f02-4945-8997-f2963298db46_Method">
    <vt:lpwstr>Standard</vt:lpwstr>
  </property>
  <property fmtid="{D5CDD505-2E9C-101B-9397-08002B2CF9AE}" pid="5" name="MSIP_Label_736915f3-2f02-4945-8997-f2963298db46_Name">
    <vt:lpwstr>Internal</vt:lpwstr>
  </property>
  <property fmtid="{D5CDD505-2E9C-101B-9397-08002B2CF9AE}" pid="6" name="MSIP_Label_736915f3-2f02-4945-8997-f2963298db46_SiteId">
    <vt:lpwstr>cd99fef8-1cd3-4a2a-9bdf-15531181d65e</vt:lpwstr>
  </property>
  <property fmtid="{D5CDD505-2E9C-101B-9397-08002B2CF9AE}" pid="7" name="MSIP_Label_736915f3-2f02-4945-8997-f2963298db46_ActionId">
    <vt:lpwstr>22bfbfd1-086b-4740-87e0-d3327460b6a0</vt:lpwstr>
  </property>
  <property fmtid="{D5CDD505-2E9C-101B-9397-08002B2CF9AE}" pid="8" name="MSIP_Label_736915f3-2f02-4945-8997-f2963298db46_ContentBits">
    <vt:lpwstr>1</vt:lpwstr>
  </property>
  <property fmtid="{D5CDD505-2E9C-101B-9397-08002B2CF9AE}" pid="9" name="ContentTypeId">
    <vt:lpwstr>0x010100553D862591723442B2527A34C9F76E98</vt:lpwstr>
  </property>
</Properties>
</file>